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1371600"/>
            <a:ext cx="5760720" cy="731520"/>
          </a:xfrm>
          <a:prstGeom prst="roundRect">
            <a:avLst/>
          </a:prstGeom>
          <a:solidFill>
            <a:srgbClr val="22523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0" y="1371600"/>
            <a:ext cx="5760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프로젝트 수행계획 보고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71600" y="2560320"/>
            <a:ext cx="9418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53325"/>
                </a:solidFill>
              </a:rPr>
              <a:t>스마트 물류관리 시스템 구축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828800" y="384048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F886A"/>
                </a:solidFill>
              </a:rPr>
              <a:t>AI 기반 물류 최적화 및 실시간 추적 시스템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0" y="5029200"/>
            <a:ext cx="6675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53325"/>
                </a:solidFill>
              </a:rPr>
              <a:t>2025.01.06 ~ 2025.12.31 (12개월)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53325"/>
                </a:solidFill>
              </a:rPr>
              <a:t>(주)테크솔루션 | PM 김철수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371600" y="1645920"/>
            <a:ext cx="9418320" cy="0"/>
          </a:xfrm>
          <a:prstGeom prst="line">
            <a:avLst/>
          </a:prstGeom>
          <a:noFill/>
          <a:ln w="25400">
            <a:solidFill>
              <a:srgbClr val="2252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71600" y="4754880"/>
            <a:ext cx="9418320" cy="0"/>
          </a:xfrm>
          <a:prstGeom prst="line">
            <a:avLst/>
          </a:prstGeom>
          <a:noFill/>
          <a:ln w="25400">
            <a:solidFill>
              <a:srgbClr val="22523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3325"/>
                </a:solidFill>
              </a:rPr>
              <a:t>프로젝트 개요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1247120" cy="45720"/>
          </a:xfrm>
          <a:prstGeom prst="rect">
            <a:avLst/>
          </a:prstGeom>
          <a:solidFill>
            <a:srgbClr val="22523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645920"/>
            <a:ext cx="2560320" cy="3840480"/>
          </a:xfrm>
          <a:prstGeom prst="roundRect">
            <a:avLst/>
          </a:prstGeom>
          <a:solidFill>
            <a:srgbClr val="E8F5F0"/>
          </a:solidFill>
          <a:ln/>
        </p:spPr>
      </p:sp>
      <p:sp>
        <p:nvSpPr>
          <p:cNvPr id="5" name="Shape 3"/>
          <p:cNvSpPr/>
          <p:nvPr/>
        </p:nvSpPr>
        <p:spPr>
          <a:xfrm>
            <a:off x="1463040" y="4846320"/>
            <a:ext cx="914400" cy="914400"/>
          </a:xfrm>
          <a:prstGeom prst="ellipse">
            <a:avLst/>
          </a:prstGeom>
          <a:solidFill>
            <a:srgbClr val="22523B"/>
          </a:solidFill>
          <a:ln/>
        </p:spPr>
      </p:sp>
      <p:sp>
        <p:nvSpPr>
          <p:cNvPr id="6" name="Text 4"/>
          <p:cNvSpPr/>
          <p:nvPr/>
        </p:nvSpPr>
        <p:spPr>
          <a:xfrm>
            <a:off x="1463040" y="48463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523B"/>
                </a:solidFill>
              </a:rPr>
              <a:t>발주기관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(주)글로벌물류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국내 Top 5 물류기업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74720" y="1645920"/>
            <a:ext cx="2560320" cy="3840480"/>
          </a:xfrm>
          <a:prstGeom prst="roundRect">
            <a:avLst/>
          </a:prstGeom>
          <a:solidFill>
            <a:srgbClr val="E8F5F0"/>
          </a:solidFill>
          <a:ln/>
        </p:spPr>
      </p:sp>
      <p:sp>
        <p:nvSpPr>
          <p:cNvPr id="10" name="Shape 8"/>
          <p:cNvSpPr/>
          <p:nvPr/>
        </p:nvSpPr>
        <p:spPr>
          <a:xfrm>
            <a:off x="4297680" y="4846320"/>
            <a:ext cx="914400" cy="914400"/>
          </a:xfrm>
          <a:prstGeom prst="ellipse">
            <a:avLst/>
          </a:prstGeom>
          <a:solidFill>
            <a:srgbClr val="22523B"/>
          </a:solidFill>
          <a:ln/>
        </p:spPr>
      </p:sp>
      <p:sp>
        <p:nvSpPr>
          <p:cNvPr id="11" name="Text 9"/>
          <p:cNvSpPr/>
          <p:nvPr/>
        </p:nvSpPr>
        <p:spPr>
          <a:xfrm>
            <a:off x="4297680" y="48463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47472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523B"/>
                </a:solidFill>
              </a:rPr>
              <a:t>계약금액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74720" y="2560320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15억원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(VAT 별도)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1645920"/>
            <a:ext cx="2560320" cy="3840480"/>
          </a:xfrm>
          <a:prstGeom prst="roundRect">
            <a:avLst/>
          </a:prstGeom>
          <a:solidFill>
            <a:srgbClr val="E8F5F0"/>
          </a:solidFill>
          <a:ln/>
        </p:spPr>
      </p:sp>
      <p:sp>
        <p:nvSpPr>
          <p:cNvPr id="15" name="Shape 13"/>
          <p:cNvSpPr/>
          <p:nvPr/>
        </p:nvSpPr>
        <p:spPr>
          <a:xfrm>
            <a:off x="7132320" y="4846320"/>
            <a:ext cx="914400" cy="914400"/>
          </a:xfrm>
          <a:prstGeom prst="ellipse">
            <a:avLst/>
          </a:prstGeom>
          <a:solidFill>
            <a:srgbClr val="22523B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0" y="48463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0936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523B"/>
                </a:solidFill>
              </a:rPr>
              <a:t>계약기간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09360" y="2560320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2025.01 ~ 2025.12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(총 12개월)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144000" y="1645920"/>
            <a:ext cx="2560320" cy="3840480"/>
          </a:xfrm>
          <a:prstGeom prst="roundRect">
            <a:avLst/>
          </a:prstGeom>
          <a:solidFill>
            <a:srgbClr val="E8F5F0"/>
          </a:solidFill>
          <a:ln/>
        </p:spPr>
      </p:sp>
      <p:sp>
        <p:nvSpPr>
          <p:cNvPr id="20" name="Shape 18"/>
          <p:cNvSpPr/>
          <p:nvPr/>
        </p:nvSpPr>
        <p:spPr>
          <a:xfrm>
            <a:off x="9966960" y="4846320"/>
            <a:ext cx="914400" cy="914400"/>
          </a:xfrm>
          <a:prstGeom prst="ellipse">
            <a:avLst/>
          </a:prstGeom>
          <a:solidFill>
            <a:srgbClr val="22523B"/>
          </a:solidFill>
          <a:ln/>
        </p:spPr>
      </p:sp>
      <p:sp>
        <p:nvSpPr>
          <p:cNvPr id="21" name="Text 19"/>
          <p:cNvSpPr/>
          <p:nvPr/>
        </p:nvSpPr>
        <p:spPr>
          <a:xfrm>
            <a:off x="9966960" y="48463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14400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523B"/>
                </a:solidFill>
              </a:rPr>
              <a:t>핵심목표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144000" y="2560320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AI 기반 물류 최적화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실시간 추적 시스템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3325"/>
                </a:solidFill>
              </a:rPr>
              <a:t>현황 및 기대효과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1247120" cy="45720"/>
          </a:xfrm>
          <a:prstGeom prst="rect">
            <a:avLst/>
          </a:prstGeom>
          <a:solidFill>
            <a:srgbClr val="22523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645920"/>
            <a:ext cx="2560320" cy="3840480"/>
          </a:xfrm>
          <a:prstGeom prst="roundRect">
            <a:avLst/>
          </a:prstGeom>
          <a:solidFill>
            <a:srgbClr val="FFF3E0"/>
          </a:solidFill>
          <a:ln/>
        </p:spPr>
      </p:sp>
      <p:sp>
        <p:nvSpPr>
          <p:cNvPr id="5" name="Shape 3"/>
          <p:cNvSpPr/>
          <p:nvPr/>
        </p:nvSpPr>
        <p:spPr>
          <a:xfrm>
            <a:off x="1463040" y="4846320"/>
            <a:ext cx="914400" cy="914400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6" name="Text 4"/>
          <p:cNvSpPr/>
          <p:nvPr/>
        </p:nvSpPr>
        <p:spPr>
          <a:xfrm>
            <a:off x="1463040" y="48463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5100"/>
                </a:solidFill>
              </a:rPr>
              <a:t>현황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10년+ 레거시 시스템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처리 속도 저하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연동 한계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74720" y="1645920"/>
            <a:ext cx="2560320" cy="3840480"/>
          </a:xfrm>
          <a:prstGeom prst="roundRect">
            <a:avLst/>
          </a:prstGeom>
          <a:solidFill>
            <a:srgbClr val="E8F5F0"/>
          </a:solidFill>
          <a:ln/>
        </p:spPr>
      </p:sp>
      <p:sp>
        <p:nvSpPr>
          <p:cNvPr id="10" name="Shape 8"/>
          <p:cNvSpPr/>
          <p:nvPr/>
        </p:nvSpPr>
        <p:spPr>
          <a:xfrm>
            <a:off x="4297680" y="4846320"/>
            <a:ext cx="914400" cy="914400"/>
          </a:xfrm>
          <a:prstGeom prst="ellipse">
            <a:avLst/>
          </a:prstGeom>
          <a:solidFill>
            <a:srgbClr val="22523B"/>
          </a:solidFill>
          <a:ln/>
        </p:spPr>
      </p:sp>
      <p:sp>
        <p:nvSpPr>
          <p:cNvPr id="11" name="Text 9"/>
          <p:cNvSpPr/>
          <p:nvPr/>
        </p:nvSpPr>
        <p:spPr>
          <a:xfrm>
            <a:off x="4297680" y="48463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47472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523B"/>
                </a:solidFill>
              </a:rPr>
              <a:t>효율 향상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74720" y="2560320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물류 처리 효율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30% 향상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1645920"/>
            <a:ext cx="2560320" cy="3840480"/>
          </a:xfrm>
          <a:prstGeom prst="roundRect">
            <a:avLst/>
          </a:prstGeom>
          <a:solidFill>
            <a:srgbClr val="E8F5F0"/>
          </a:solidFill>
          <a:ln/>
        </p:spPr>
      </p:sp>
      <p:sp>
        <p:nvSpPr>
          <p:cNvPr id="15" name="Shape 13"/>
          <p:cNvSpPr/>
          <p:nvPr/>
        </p:nvSpPr>
        <p:spPr>
          <a:xfrm>
            <a:off x="7132320" y="4846320"/>
            <a:ext cx="914400" cy="914400"/>
          </a:xfrm>
          <a:prstGeom prst="ellipse">
            <a:avLst/>
          </a:prstGeom>
          <a:solidFill>
            <a:srgbClr val="22523B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0" y="48463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0936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523B"/>
                </a:solidFill>
              </a:rPr>
              <a:t>정확도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09360" y="2560320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재고 정확도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99.5% 달성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144000" y="1645920"/>
            <a:ext cx="2560320" cy="3840480"/>
          </a:xfrm>
          <a:prstGeom prst="roundRect">
            <a:avLst/>
          </a:prstGeom>
          <a:solidFill>
            <a:srgbClr val="E8F5F0"/>
          </a:solidFill>
          <a:ln/>
        </p:spPr>
      </p:sp>
      <p:sp>
        <p:nvSpPr>
          <p:cNvPr id="20" name="Shape 18"/>
          <p:cNvSpPr/>
          <p:nvPr/>
        </p:nvSpPr>
        <p:spPr>
          <a:xfrm>
            <a:off x="9966960" y="4846320"/>
            <a:ext cx="914400" cy="914400"/>
          </a:xfrm>
          <a:prstGeom prst="ellipse">
            <a:avLst/>
          </a:prstGeom>
          <a:solidFill>
            <a:srgbClr val="22523B"/>
          </a:solidFill>
          <a:ln/>
        </p:spPr>
      </p:sp>
      <p:sp>
        <p:nvSpPr>
          <p:cNvPr id="21" name="Text 19"/>
          <p:cNvSpPr/>
          <p:nvPr/>
        </p:nvSpPr>
        <p:spPr>
          <a:xfrm>
            <a:off x="9966960" y="48463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14400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523B"/>
                </a:solidFill>
              </a:rPr>
              <a:t>비용 절감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144000" y="2560320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운영 비용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20% 절감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3325"/>
                </a:solidFill>
              </a:rPr>
              <a:t>시스템 범위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1247120" cy="45720"/>
          </a:xfrm>
          <a:prstGeom prst="rect">
            <a:avLst/>
          </a:prstGeom>
          <a:solidFill>
            <a:srgbClr val="22523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645920"/>
            <a:ext cx="2560320" cy="3840480"/>
          </a:xfrm>
          <a:prstGeom prst="roundRect">
            <a:avLst/>
          </a:prstGeom>
          <a:solidFill>
            <a:srgbClr val="E8F5F0"/>
          </a:solidFill>
          <a:ln/>
        </p:spPr>
      </p:sp>
      <p:sp>
        <p:nvSpPr>
          <p:cNvPr id="5" name="Shape 3"/>
          <p:cNvSpPr/>
          <p:nvPr/>
        </p:nvSpPr>
        <p:spPr>
          <a:xfrm>
            <a:off x="1463040" y="4846320"/>
            <a:ext cx="914400" cy="914400"/>
          </a:xfrm>
          <a:prstGeom prst="ellipse">
            <a:avLst/>
          </a:prstGeom>
          <a:solidFill>
            <a:srgbClr val="22523B"/>
          </a:solidFill>
          <a:ln/>
        </p:spPr>
      </p:sp>
      <p:sp>
        <p:nvSpPr>
          <p:cNvPr id="6" name="Text 4"/>
          <p:cNvSpPr/>
          <p:nvPr/>
        </p:nvSpPr>
        <p:spPr>
          <a:xfrm>
            <a:off x="1463040" y="48463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523B"/>
                </a:solidFill>
              </a:rPr>
              <a:t>WMS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창고관리시스템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입출고, 재고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피킹/패킹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74720" y="1645920"/>
            <a:ext cx="2560320" cy="3840480"/>
          </a:xfrm>
          <a:prstGeom prst="roundRect">
            <a:avLst/>
          </a:prstGeom>
          <a:solidFill>
            <a:srgbClr val="E8F5F0"/>
          </a:solidFill>
          <a:ln/>
        </p:spPr>
      </p:sp>
      <p:sp>
        <p:nvSpPr>
          <p:cNvPr id="10" name="Shape 8"/>
          <p:cNvSpPr/>
          <p:nvPr/>
        </p:nvSpPr>
        <p:spPr>
          <a:xfrm>
            <a:off x="4297680" y="4846320"/>
            <a:ext cx="914400" cy="914400"/>
          </a:xfrm>
          <a:prstGeom prst="ellipse">
            <a:avLst/>
          </a:prstGeom>
          <a:solidFill>
            <a:srgbClr val="22523B"/>
          </a:solidFill>
          <a:ln/>
        </p:spPr>
      </p:sp>
      <p:sp>
        <p:nvSpPr>
          <p:cNvPr id="11" name="Text 9"/>
          <p:cNvSpPr/>
          <p:nvPr/>
        </p:nvSpPr>
        <p:spPr>
          <a:xfrm>
            <a:off x="4297680" y="48463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47472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523B"/>
                </a:solidFill>
              </a:rPr>
              <a:t>TMS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474720" y="2560320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배송관리시스템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배차, 경로최적화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실시간 추적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1645920"/>
            <a:ext cx="2560320" cy="3840480"/>
          </a:xfrm>
          <a:prstGeom prst="roundRect">
            <a:avLst/>
          </a:prstGeom>
          <a:solidFill>
            <a:srgbClr val="E8F5F0"/>
          </a:solidFill>
          <a:ln/>
        </p:spPr>
      </p:sp>
      <p:sp>
        <p:nvSpPr>
          <p:cNvPr id="15" name="Shape 13"/>
          <p:cNvSpPr/>
          <p:nvPr/>
        </p:nvSpPr>
        <p:spPr>
          <a:xfrm>
            <a:off x="7132320" y="4846320"/>
            <a:ext cx="914400" cy="914400"/>
          </a:xfrm>
          <a:prstGeom prst="ellipse">
            <a:avLst/>
          </a:prstGeom>
          <a:solidFill>
            <a:srgbClr val="22523B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0" y="48463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0936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523B"/>
                </a:solidFill>
              </a:rPr>
              <a:t>OMS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309360" y="2560320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주문관리시스템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주문접수, 할당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정산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144000" y="1645920"/>
            <a:ext cx="2560320" cy="3840480"/>
          </a:xfrm>
          <a:prstGeom prst="roundRect">
            <a:avLst/>
          </a:prstGeom>
          <a:solidFill>
            <a:srgbClr val="E8F5F0"/>
          </a:solidFill>
          <a:ln/>
        </p:spPr>
      </p:sp>
      <p:sp>
        <p:nvSpPr>
          <p:cNvPr id="20" name="Shape 18"/>
          <p:cNvSpPr/>
          <p:nvPr/>
        </p:nvSpPr>
        <p:spPr>
          <a:xfrm>
            <a:off x="9966960" y="4846320"/>
            <a:ext cx="914400" cy="914400"/>
          </a:xfrm>
          <a:prstGeom prst="ellipse">
            <a:avLst/>
          </a:prstGeom>
          <a:solidFill>
            <a:srgbClr val="22523B"/>
          </a:solidFill>
          <a:ln/>
        </p:spPr>
      </p:sp>
      <p:sp>
        <p:nvSpPr>
          <p:cNvPr id="21" name="Text 19"/>
          <p:cNvSpPr/>
          <p:nvPr/>
        </p:nvSpPr>
        <p:spPr>
          <a:xfrm>
            <a:off x="9966960" y="48463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14400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523B"/>
                </a:solidFill>
              </a:rPr>
              <a:t>Dashboard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144000" y="2560320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통합모니터링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실시간 현황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KPI, 리포트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3325"/>
                </a:solidFill>
              </a:rPr>
              <a:t>추진 전략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1247120" cy="45720"/>
          </a:xfrm>
          <a:prstGeom prst="rect">
            <a:avLst/>
          </a:prstGeom>
          <a:solidFill>
            <a:srgbClr val="22523B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2011680"/>
            <a:ext cx="2560320" cy="2560320"/>
          </a:xfrm>
          <a:prstGeom prst="ellipse">
            <a:avLst/>
          </a:prstGeom>
          <a:solidFill>
            <a:srgbClr val="22523B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25603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단계적 전환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484632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모듈별 순차 전환으로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리스크 최소화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023360" y="2926080"/>
            <a:ext cx="731520" cy="457200"/>
          </a:xfrm>
          <a:prstGeom prst="rightArrow">
            <a:avLst/>
          </a:prstGeom>
          <a:solidFill>
            <a:srgbClr val="479374"/>
          </a:solidFill>
          <a:ln/>
        </p:spPr>
      </p:sp>
      <p:sp>
        <p:nvSpPr>
          <p:cNvPr id="8" name="Shape 6"/>
          <p:cNvSpPr/>
          <p:nvPr/>
        </p:nvSpPr>
        <p:spPr>
          <a:xfrm>
            <a:off x="4846320" y="2011680"/>
            <a:ext cx="2560320" cy="2560320"/>
          </a:xfrm>
          <a:prstGeom prst="ellipse">
            <a:avLst/>
          </a:prstGeom>
          <a:solidFill>
            <a:srgbClr val="22523B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25603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애자일 기반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0" y="484632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2주 단위 스프린트로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빠른 피드백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98080" y="2926080"/>
            <a:ext cx="731520" cy="457200"/>
          </a:xfrm>
          <a:prstGeom prst="rightArrow">
            <a:avLst/>
          </a:prstGeom>
          <a:solidFill>
            <a:srgbClr val="479374"/>
          </a:solidFill>
          <a:ln/>
        </p:spPr>
      </p:sp>
      <p:sp>
        <p:nvSpPr>
          <p:cNvPr id="12" name="Shape 10"/>
          <p:cNvSpPr/>
          <p:nvPr/>
        </p:nvSpPr>
        <p:spPr>
          <a:xfrm>
            <a:off x="8321040" y="2011680"/>
            <a:ext cx="2560320" cy="2560320"/>
          </a:xfrm>
          <a:prstGeom prst="ellipse">
            <a:avLst/>
          </a:prstGeom>
          <a:solidFill>
            <a:srgbClr val="22523B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25603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현업 밀착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046720" y="484632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주 2회 현업 리뷰로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정합성 확보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3325"/>
                </a:solidFill>
              </a:rPr>
              <a:t>마스터 일정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1247120" cy="45720"/>
          </a:xfrm>
          <a:prstGeom prst="rect">
            <a:avLst/>
          </a:prstGeom>
          <a:solidFill>
            <a:srgbClr val="22523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645920"/>
            <a:ext cx="2560320" cy="3840480"/>
          </a:xfrm>
          <a:prstGeom prst="roundRect">
            <a:avLst/>
          </a:prstGeom>
          <a:solidFill>
            <a:srgbClr val="E8F5F0"/>
          </a:solidFill>
          <a:ln/>
        </p:spPr>
      </p:sp>
      <p:sp>
        <p:nvSpPr>
          <p:cNvPr id="5" name="Shape 3"/>
          <p:cNvSpPr/>
          <p:nvPr/>
        </p:nvSpPr>
        <p:spPr>
          <a:xfrm>
            <a:off x="1463040" y="4846320"/>
            <a:ext cx="914400" cy="914400"/>
          </a:xfrm>
          <a:prstGeom prst="ellipse">
            <a:avLst/>
          </a:prstGeom>
          <a:solidFill>
            <a:srgbClr val="22523B"/>
          </a:solidFill>
          <a:ln/>
        </p:spPr>
      </p:sp>
      <p:sp>
        <p:nvSpPr>
          <p:cNvPr id="6" name="Text 4"/>
          <p:cNvSpPr/>
          <p:nvPr/>
        </p:nvSpPr>
        <p:spPr>
          <a:xfrm>
            <a:off x="1463040" y="48463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523B"/>
                </a:solidFill>
              </a:rPr>
              <a:t>착수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9374"/>
                </a:solidFill>
              </a:rPr>
              <a:t>1월 (4주)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834640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킥오프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환경구축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표준정의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0" y="1645920"/>
            <a:ext cx="2560320" cy="3840480"/>
          </a:xfrm>
          <a:prstGeom prst="roundRect">
            <a:avLst/>
          </a:prstGeom>
          <a:solidFill>
            <a:srgbClr val="E8F5F0"/>
          </a:solidFill>
          <a:ln/>
        </p:spPr>
      </p:sp>
      <p:sp>
        <p:nvSpPr>
          <p:cNvPr id="11" name="Shape 9"/>
          <p:cNvSpPr/>
          <p:nvPr/>
        </p:nvSpPr>
        <p:spPr>
          <a:xfrm>
            <a:off x="4297680" y="4846320"/>
            <a:ext cx="914400" cy="914400"/>
          </a:xfrm>
          <a:prstGeom prst="ellipse">
            <a:avLst/>
          </a:prstGeom>
          <a:solidFill>
            <a:srgbClr val="22523B"/>
          </a:solidFill>
          <a:ln/>
        </p:spPr>
      </p:sp>
      <p:sp>
        <p:nvSpPr>
          <p:cNvPr id="12" name="Text 10"/>
          <p:cNvSpPr/>
          <p:nvPr/>
        </p:nvSpPr>
        <p:spPr>
          <a:xfrm>
            <a:off x="4297680" y="48463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74720" y="1828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523B"/>
                </a:solidFill>
              </a:rPr>
              <a:t>분석/설계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474720" y="2286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9374"/>
                </a:solidFill>
              </a:rPr>
              <a:t>2~5월 (16주)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74720" y="2834640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요구사항 확정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아키텍처 설계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09360" y="1645920"/>
            <a:ext cx="2560320" cy="3840480"/>
          </a:xfrm>
          <a:prstGeom prst="roundRect">
            <a:avLst/>
          </a:prstGeom>
          <a:solidFill>
            <a:srgbClr val="E8F5F0"/>
          </a:solidFill>
          <a:ln/>
        </p:spPr>
      </p:sp>
      <p:sp>
        <p:nvSpPr>
          <p:cNvPr id="17" name="Shape 15"/>
          <p:cNvSpPr/>
          <p:nvPr/>
        </p:nvSpPr>
        <p:spPr>
          <a:xfrm>
            <a:off x="7132320" y="4846320"/>
            <a:ext cx="914400" cy="914400"/>
          </a:xfrm>
          <a:prstGeom prst="ellipse">
            <a:avLst/>
          </a:prstGeom>
          <a:solidFill>
            <a:srgbClr val="22523B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0" y="48463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309360" y="1828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523B"/>
                </a:solidFill>
              </a:rPr>
              <a:t>개발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309360" y="2286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9374"/>
                </a:solidFill>
              </a:rPr>
              <a:t>6~9월 (16주)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09360" y="2834640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코딩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단위테스트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144000" y="1645920"/>
            <a:ext cx="2560320" cy="3840480"/>
          </a:xfrm>
          <a:prstGeom prst="roundRect">
            <a:avLst/>
          </a:prstGeom>
          <a:solidFill>
            <a:srgbClr val="E8F5F0"/>
          </a:solidFill>
          <a:ln/>
        </p:spPr>
      </p:sp>
      <p:sp>
        <p:nvSpPr>
          <p:cNvPr id="23" name="Shape 21"/>
          <p:cNvSpPr/>
          <p:nvPr/>
        </p:nvSpPr>
        <p:spPr>
          <a:xfrm>
            <a:off x="9966960" y="4846320"/>
            <a:ext cx="914400" cy="914400"/>
          </a:xfrm>
          <a:prstGeom prst="ellipse">
            <a:avLst/>
          </a:prstGeom>
          <a:solidFill>
            <a:srgbClr val="22523B"/>
          </a:solidFill>
          <a:ln/>
        </p:spPr>
      </p:sp>
      <p:sp>
        <p:nvSpPr>
          <p:cNvPr id="24" name="Text 22"/>
          <p:cNvSpPr/>
          <p:nvPr/>
        </p:nvSpPr>
        <p:spPr>
          <a:xfrm>
            <a:off x="9966960" y="48463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144000" y="1828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523B"/>
                </a:solidFill>
              </a:rPr>
              <a:t>테스트/이행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144000" y="2286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9374"/>
                </a:solidFill>
              </a:rPr>
              <a:t>10~12월 (12주)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44000" y="2834640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오픈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안정화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3325"/>
                </a:solidFill>
              </a:rPr>
              <a:t>투입 인력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1247120" cy="45720"/>
          </a:xfrm>
          <a:prstGeom prst="rect">
            <a:avLst/>
          </a:prstGeom>
          <a:solidFill>
            <a:srgbClr val="22523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645920"/>
            <a:ext cx="2560320" cy="3840480"/>
          </a:xfrm>
          <a:prstGeom prst="roundRect">
            <a:avLst/>
          </a:prstGeom>
          <a:solidFill>
            <a:srgbClr val="E8F5F0"/>
          </a:solidFill>
          <a:ln/>
        </p:spPr>
      </p:sp>
      <p:sp>
        <p:nvSpPr>
          <p:cNvPr id="5" name="Shape 3"/>
          <p:cNvSpPr/>
          <p:nvPr/>
        </p:nvSpPr>
        <p:spPr>
          <a:xfrm>
            <a:off x="1463040" y="4846320"/>
            <a:ext cx="914400" cy="914400"/>
          </a:xfrm>
          <a:prstGeom prst="ellipse">
            <a:avLst/>
          </a:prstGeom>
          <a:solidFill>
            <a:srgbClr val="22523B"/>
          </a:solidFill>
          <a:ln/>
        </p:spPr>
      </p:sp>
      <p:sp>
        <p:nvSpPr>
          <p:cNvPr id="6" name="Text 4"/>
          <p:cNvSpPr/>
          <p:nvPr/>
        </p:nvSpPr>
        <p:spPr>
          <a:xfrm>
            <a:off x="1463040" y="48463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523B"/>
                </a:solidFill>
              </a:rPr>
              <a:t>PM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김철수 차장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(12개월)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74720" y="1645920"/>
            <a:ext cx="2560320" cy="3840480"/>
          </a:xfrm>
          <a:prstGeom prst="roundRect">
            <a:avLst/>
          </a:prstGeom>
          <a:solidFill>
            <a:srgbClr val="E8F5F0"/>
          </a:solidFill>
          <a:ln/>
        </p:spPr>
      </p:sp>
      <p:sp>
        <p:nvSpPr>
          <p:cNvPr id="10" name="Shape 8"/>
          <p:cNvSpPr/>
          <p:nvPr/>
        </p:nvSpPr>
        <p:spPr>
          <a:xfrm>
            <a:off x="4297680" y="4846320"/>
            <a:ext cx="914400" cy="914400"/>
          </a:xfrm>
          <a:prstGeom prst="ellipse">
            <a:avLst/>
          </a:prstGeom>
          <a:solidFill>
            <a:srgbClr val="22523B"/>
          </a:solidFill>
          <a:ln/>
        </p:spPr>
      </p:sp>
      <p:sp>
        <p:nvSpPr>
          <p:cNvPr id="11" name="Text 9"/>
          <p:cNvSpPr/>
          <p:nvPr/>
        </p:nvSpPr>
        <p:spPr>
          <a:xfrm>
            <a:off x="4297680" y="48463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47472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523B"/>
                </a:solidFill>
              </a:rPr>
              <a:t>AA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74720" y="2560320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박준형 책임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(10개월)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1645920"/>
            <a:ext cx="2560320" cy="3840480"/>
          </a:xfrm>
          <a:prstGeom prst="roundRect">
            <a:avLst/>
          </a:prstGeom>
          <a:solidFill>
            <a:srgbClr val="E8F5F0"/>
          </a:solidFill>
          <a:ln/>
        </p:spPr>
      </p:sp>
      <p:sp>
        <p:nvSpPr>
          <p:cNvPr id="15" name="Shape 13"/>
          <p:cNvSpPr/>
          <p:nvPr/>
        </p:nvSpPr>
        <p:spPr>
          <a:xfrm>
            <a:off x="7132320" y="4846320"/>
            <a:ext cx="914400" cy="914400"/>
          </a:xfrm>
          <a:prstGeom prst="ellipse">
            <a:avLst/>
          </a:prstGeom>
          <a:solidFill>
            <a:srgbClr val="22523B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0" y="48463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0936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523B"/>
                </a:solidFill>
              </a:rPr>
              <a:t>개발팀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09360" y="2560320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PL 1명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Backend 2명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Frontend 1명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144000" y="1645920"/>
            <a:ext cx="2560320" cy="3840480"/>
          </a:xfrm>
          <a:prstGeom prst="roundRect">
            <a:avLst/>
          </a:prstGeom>
          <a:solidFill>
            <a:srgbClr val="E8F5F0"/>
          </a:solidFill>
          <a:ln/>
        </p:spPr>
      </p:sp>
      <p:sp>
        <p:nvSpPr>
          <p:cNvPr id="20" name="Shape 18"/>
          <p:cNvSpPr/>
          <p:nvPr/>
        </p:nvSpPr>
        <p:spPr>
          <a:xfrm>
            <a:off x="9966960" y="4846320"/>
            <a:ext cx="914400" cy="914400"/>
          </a:xfrm>
          <a:prstGeom prst="ellipse">
            <a:avLst/>
          </a:prstGeom>
          <a:solidFill>
            <a:srgbClr val="22523B"/>
          </a:solidFill>
          <a:ln/>
        </p:spPr>
      </p:sp>
      <p:sp>
        <p:nvSpPr>
          <p:cNvPr id="21" name="Text 19"/>
          <p:cNvSpPr/>
          <p:nvPr/>
        </p:nvSpPr>
        <p:spPr>
          <a:xfrm>
            <a:off x="9966960" y="48463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14400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523B"/>
                </a:solidFill>
              </a:rPr>
              <a:t>QA/DBA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144000" y="2560320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QA 1명 (6개월)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DBA 1명 (8개월)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114800" y="59436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523B"/>
                </a:solidFill>
              </a:rPr>
              <a:t>총 8명 | 78MM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3325"/>
                </a:solidFill>
              </a:rPr>
              <a:t>주요 위험 및 대응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1247120" cy="45720"/>
          </a:xfrm>
          <a:prstGeom prst="rect">
            <a:avLst/>
          </a:prstGeom>
          <a:solidFill>
            <a:srgbClr val="22523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645920"/>
            <a:ext cx="1097280" cy="1097280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459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상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103120" y="1737360"/>
            <a:ext cx="9326880" cy="914400"/>
          </a:xfrm>
          <a:prstGeom prst="roundRect">
            <a:avLst/>
          </a:prstGeom>
          <a:solidFill>
            <a:srgbClr val="F5F5F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173736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3325"/>
                </a:solidFill>
              </a:rPr>
              <a:t>요구사항 변경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0" y="1737360"/>
            <a:ext cx="6217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CCB 통해 통제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영향도 분석 필수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200400"/>
            <a:ext cx="1097280" cy="1097280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2004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중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103120" y="3291840"/>
            <a:ext cx="9326880" cy="914400"/>
          </a:xfrm>
          <a:prstGeom prst="roundRect">
            <a:avLst/>
          </a:prstGeom>
          <a:solidFill>
            <a:srgbClr val="F5F5F5"/>
          </a:solidFill>
          <a:ln/>
        </p:spPr>
      </p:sp>
      <p:sp>
        <p:nvSpPr>
          <p:cNvPr id="12" name="Text 10"/>
          <p:cNvSpPr/>
          <p:nvPr/>
        </p:nvSpPr>
        <p:spPr>
          <a:xfrm>
            <a:off x="2286000" y="32918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3325"/>
                </a:solidFill>
              </a:rPr>
              <a:t>일정 지연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29200" y="3291840"/>
            <a:ext cx="6217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주간 진척관리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Critical Path 모니터링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4754880"/>
            <a:ext cx="1097280" cy="1097280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7548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상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2103120" y="4846320"/>
            <a:ext cx="9326880" cy="914400"/>
          </a:xfrm>
          <a:prstGeom prst="roundRect">
            <a:avLst/>
          </a:prstGeom>
          <a:solidFill>
            <a:srgbClr val="F5F5F5"/>
          </a:solidFill>
          <a:ln/>
        </p:spPr>
      </p:sp>
      <p:sp>
        <p:nvSpPr>
          <p:cNvPr id="17" name="Text 15"/>
          <p:cNvSpPr/>
          <p:nvPr/>
        </p:nvSpPr>
        <p:spPr>
          <a:xfrm>
            <a:off x="2286000" y="48463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3325"/>
                </a:solidFill>
              </a:rPr>
              <a:t>데이터 마이그레이션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29200" y="4846320"/>
            <a:ext cx="6217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사전 검증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롤백 계획 수립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3325"/>
                </a:solidFill>
              </a:rPr>
              <a:t>협조 요청 사항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1247120" cy="45720"/>
          </a:xfrm>
          <a:prstGeom prst="rect">
            <a:avLst/>
          </a:prstGeom>
          <a:solidFill>
            <a:srgbClr val="22523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645920"/>
            <a:ext cx="2560320" cy="3840480"/>
          </a:xfrm>
          <a:prstGeom prst="roundRect">
            <a:avLst/>
          </a:prstGeom>
          <a:solidFill>
            <a:srgbClr val="E8F5F0"/>
          </a:solidFill>
          <a:ln/>
        </p:spPr>
      </p:sp>
      <p:sp>
        <p:nvSpPr>
          <p:cNvPr id="5" name="Shape 3"/>
          <p:cNvSpPr/>
          <p:nvPr/>
        </p:nvSpPr>
        <p:spPr>
          <a:xfrm>
            <a:off x="1463040" y="4846320"/>
            <a:ext cx="914400" cy="914400"/>
          </a:xfrm>
          <a:prstGeom prst="ellipse">
            <a:avLst/>
          </a:prstGeom>
          <a:solidFill>
            <a:srgbClr val="22523B"/>
          </a:solidFill>
          <a:ln/>
        </p:spPr>
      </p:sp>
      <p:sp>
        <p:nvSpPr>
          <p:cNvPr id="6" name="Text 4"/>
          <p:cNvSpPr/>
          <p:nvPr/>
        </p:nvSpPr>
        <p:spPr>
          <a:xfrm>
            <a:off x="1463040" y="48463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523B"/>
                </a:solidFill>
              </a:rPr>
              <a:t>환경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프로젝트 룸 10석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VPN, 출입증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74720" y="1645920"/>
            <a:ext cx="2560320" cy="3840480"/>
          </a:xfrm>
          <a:prstGeom prst="roundRect">
            <a:avLst/>
          </a:prstGeom>
          <a:solidFill>
            <a:srgbClr val="E8F5F0"/>
          </a:solidFill>
          <a:ln/>
        </p:spPr>
      </p:sp>
      <p:sp>
        <p:nvSpPr>
          <p:cNvPr id="10" name="Shape 8"/>
          <p:cNvSpPr/>
          <p:nvPr/>
        </p:nvSpPr>
        <p:spPr>
          <a:xfrm>
            <a:off x="4297680" y="4846320"/>
            <a:ext cx="914400" cy="914400"/>
          </a:xfrm>
          <a:prstGeom prst="ellipse">
            <a:avLst/>
          </a:prstGeom>
          <a:solidFill>
            <a:srgbClr val="22523B"/>
          </a:solidFill>
          <a:ln/>
        </p:spPr>
      </p:sp>
      <p:sp>
        <p:nvSpPr>
          <p:cNvPr id="11" name="Text 9"/>
          <p:cNvSpPr/>
          <p:nvPr/>
        </p:nvSpPr>
        <p:spPr>
          <a:xfrm>
            <a:off x="4297680" y="48463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47472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523B"/>
                </a:solidFill>
              </a:rPr>
              <a:t>데이터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74720" y="2560320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테스트용 샘플 데이터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(개인정보 비식별화)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1645920"/>
            <a:ext cx="2560320" cy="3840480"/>
          </a:xfrm>
          <a:prstGeom prst="roundRect">
            <a:avLst/>
          </a:prstGeom>
          <a:solidFill>
            <a:srgbClr val="E8F5F0"/>
          </a:solidFill>
          <a:ln/>
        </p:spPr>
      </p:sp>
      <p:sp>
        <p:nvSpPr>
          <p:cNvPr id="15" name="Shape 13"/>
          <p:cNvSpPr/>
          <p:nvPr/>
        </p:nvSpPr>
        <p:spPr>
          <a:xfrm>
            <a:off x="7132320" y="4846320"/>
            <a:ext cx="914400" cy="914400"/>
          </a:xfrm>
          <a:prstGeom prst="ellipse">
            <a:avLst/>
          </a:prstGeom>
          <a:solidFill>
            <a:srgbClr val="22523B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0" y="48463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0936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523B"/>
                </a:solidFill>
              </a:rPr>
              <a:t>인프라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09360" y="2560320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AWS 계정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권한 부여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144000" y="1645920"/>
            <a:ext cx="2560320" cy="3840480"/>
          </a:xfrm>
          <a:prstGeom prst="roundRect">
            <a:avLst/>
          </a:prstGeom>
          <a:solidFill>
            <a:srgbClr val="E8F5F0"/>
          </a:solidFill>
          <a:ln/>
        </p:spPr>
      </p:sp>
      <p:sp>
        <p:nvSpPr>
          <p:cNvPr id="20" name="Shape 18"/>
          <p:cNvSpPr/>
          <p:nvPr/>
        </p:nvSpPr>
        <p:spPr>
          <a:xfrm>
            <a:off x="9966960" y="4846320"/>
            <a:ext cx="914400" cy="914400"/>
          </a:xfrm>
          <a:prstGeom prst="ellipse">
            <a:avLst/>
          </a:prstGeom>
          <a:solidFill>
            <a:srgbClr val="22523B"/>
          </a:solidFill>
          <a:ln/>
        </p:spPr>
      </p:sp>
      <p:sp>
        <p:nvSpPr>
          <p:cNvPr id="21" name="Text 19"/>
          <p:cNvSpPr/>
          <p:nvPr/>
        </p:nvSpPr>
        <p:spPr>
          <a:xfrm>
            <a:off x="9966960" y="48463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14400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523B"/>
                </a:solidFill>
              </a:rPr>
              <a:t>참여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144000" y="2560320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현업 담당자 인터뷰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UAT 지원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645920"/>
            <a:ext cx="9418320" cy="0"/>
          </a:xfrm>
          <a:prstGeom prst="line">
            <a:avLst/>
          </a:prstGeom>
          <a:noFill/>
          <a:ln w="25400">
            <a:solidFill>
              <a:srgbClr val="2252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5029200"/>
            <a:ext cx="9418320" cy="0"/>
          </a:xfrm>
          <a:prstGeom prst="line">
            <a:avLst/>
          </a:prstGeom>
          <a:noFill/>
          <a:ln w="25400">
            <a:solidFill>
              <a:srgbClr val="2252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2286000"/>
            <a:ext cx="9418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53325"/>
                </a:solidFill>
              </a:rPr>
              <a:t>감사합니다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828800" y="365760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F886A"/>
                </a:solidFill>
              </a:rPr>
              <a:t>스마트 물류관리 시스템 구축 프로젝트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0" y="5303520"/>
            <a:ext cx="6675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53325"/>
                </a:solidFill>
              </a:rPr>
              <a:t>PM: 김철수 (kim@techsolution.co.kr)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53325"/>
                </a:solidFill>
              </a:rPr>
              <a:t>(주)테크솔루션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스마트 물류관리 시스템 구축</dc:title>
  <dc:subject>PptxGenJS Presentation</dc:subject>
  <dc:creator>(주)테크솔루션</dc:creator>
  <cp:lastModifiedBy>(주)테크솔루션</cp:lastModifiedBy>
  <cp:revision>1</cp:revision>
  <dcterms:created xsi:type="dcterms:W3CDTF">2026-01-12T02:06:11Z</dcterms:created>
  <dcterms:modified xsi:type="dcterms:W3CDTF">2026-01-12T02:06:11Z</dcterms:modified>
</cp:coreProperties>
</file>