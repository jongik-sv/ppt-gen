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5250"/>
            <a:ext cx="9144000" cy="5143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9525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05247" y="779264"/>
            <a:ext cx="7342584" cy="19050"/>
          </a:xfrm>
          <a:prstGeom prst="rect">
            <a:avLst/>
          </a:prstGeom>
          <a:solidFill>
            <a:srgbClr val="15332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14600" y="465534"/>
            <a:ext cx="4069035" cy="622325"/>
          </a:xfrm>
          <a:prstGeom prst="roundRect">
            <a:avLst>
              <a:gd name="adj" fmla="val 6122"/>
            </a:avLst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05247" y="3675087"/>
            <a:ext cx="7342584" cy="19050"/>
          </a:xfrm>
          <a:prstGeom prst="rect">
            <a:avLst/>
          </a:prstGeom>
          <a:solidFill>
            <a:srgbClr val="15332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9876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57472" y="847869"/>
            <a:ext cx="829056" cy="170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64" b="1" dirty="0">
                <a:solidFill>
                  <a:srgbClr val="22523B"/>
                </a:solidFill>
                <a:latin typeface="코트라 볼드체" pitchFamily="34" charset="0"/>
                <a:ea typeface="코트라 볼드체" pitchFamily="34" charset="-122"/>
                <a:cs typeface="코트라 볼드체" pitchFamily="34" charset="-120"/>
              </a:rPr>
              <a:t>CONTENTS</a:t>
            </a:r>
            <a:endParaRPr lang="en-US" sz="1164" dirty="0"/>
          </a:p>
        </p:txBody>
      </p:sp>
      <p:sp>
        <p:nvSpPr>
          <p:cNvPr id="4" name="Text 2"/>
          <p:cNvSpPr/>
          <p:nvPr/>
        </p:nvSpPr>
        <p:spPr>
          <a:xfrm>
            <a:off x="392545" y="1450253"/>
            <a:ext cx="2638497" cy="4618"/>
          </a:xfrm>
          <a:prstGeom prst="rect">
            <a:avLst/>
          </a:prstGeom>
          <a:solidFill>
            <a:srgbClr val="15332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52715" y="1450253"/>
            <a:ext cx="2638497" cy="4618"/>
          </a:xfrm>
          <a:prstGeom prst="rect">
            <a:avLst/>
          </a:prstGeom>
          <a:solidFill>
            <a:srgbClr val="15332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112885" y="1450253"/>
            <a:ext cx="2638497" cy="4618"/>
          </a:xfrm>
          <a:prstGeom prst="rect">
            <a:avLst/>
          </a:prstGeom>
          <a:solidFill>
            <a:srgbClr val="15332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9876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88359" y="2034886"/>
            <a:ext cx="3767282" cy="4618"/>
          </a:xfrm>
          <a:prstGeom prst="rect">
            <a:avLst/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4956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66886" y="563835"/>
            <a:ext cx="1819275" cy="2681288"/>
          </a:xfrm>
          <a:prstGeom prst="rect">
            <a:avLst/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590949" y="563835"/>
            <a:ext cx="1819275" cy="2681288"/>
          </a:xfrm>
          <a:prstGeom prst="rect">
            <a:avLst/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15011" y="563835"/>
            <a:ext cx="1819275" cy="2681288"/>
          </a:xfrm>
          <a:prstGeom prst="rect">
            <a:avLst/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39074" y="563835"/>
            <a:ext cx="1819275" cy="2681288"/>
          </a:xfrm>
          <a:prstGeom prst="rect">
            <a:avLst/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70384" y="2971279"/>
            <a:ext cx="566738" cy="628650"/>
          </a:xfrm>
          <a:prstGeom prst="roundRect">
            <a:avLst>
              <a:gd name="adj" fmla="val 80672"/>
            </a:avLst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49141" y="2971279"/>
            <a:ext cx="566738" cy="628650"/>
          </a:xfrm>
          <a:prstGeom prst="roundRect">
            <a:avLst>
              <a:gd name="adj" fmla="val 80672"/>
            </a:avLst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327898" y="2971279"/>
            <a:ext cx="566738" cy="628650"/>
          </a:xfrm>
          <a:prstGeom prst="roundRect">
            <a:avLst>
              <a:gd name="adj" fmla="val 80672"/>
            </a:avLst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06655" y="2971279"/>
            <a:ext cx="566738" cy="628650"/>
          </a:xfrm>
          <a:prstGeom prst="roundRect">
            <a:avLst>
              <a:gd name="adj" fmla="val 80672"/>
            </a:avLst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" y="95250"/>
            <a:ext cx="4572000" cy="174783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58366" y="190500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C4D6D0"/>
          </a:solidFill>
          <a:ln w="9525">
            <a:solidFill>
              <a:srgbClr val="999999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8125" y="416719"/>
            <a:ext cx="326231" cy="57150"/>
          </a:xfrm>
          <a:prstGeom prst="roundRect">
            <a:avLst>
              <a:gd name="adj" fmla="val 33333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시스템 노후화</a:t>
            </a:r>
            <a:endParaRPr lang="en-US" sz="525" dirty="0"/>
          </a:p>
        </p:txBody>
      </p:sp>
      <p:sp>
        <p:nvSpPr>
          <p:cNvPr id="5" name="Text 3"/>
          <p:cNvSpPr/>
          <p:nvPr/>
        </p:nvSpPr>
        <p:spPr>
          <a:xfrm>
            <a:off x="2551509" y="219298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15332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8366" y="854869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83A99B"/>
          </a:solidFill>
          <a:ln w="9525">
            <a:solidFill>
              <a:srgbClr val="666666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38125" y="1081088"/>
            <a:ext cx="326231" cy="57150"/>
          </a:xfrm>
          <a:prstGeom prst="roundRect">
            <a:avLst>
              <a:gd name="adj" fmla="val 33333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실시간 정보 부재</a:t>
            </a:r>
            <a:endParaRPr lang="en-US" sz="525" dirty="0"/>
          </a:p>
        </p:txBody>
      </p:sp>
      <p:sp>
        <p:nvSpPr>
          <p:cNvPr id="8" name="Text 6"/>
          <p:cNvSpPr/>
          <p:nvPr/>
        </p:nvSpPr>
        <p:spPr>
          <a:xfrm>
            <a:off x="2551509" y="883667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67B7B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58366" y="1519238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479374"/>
          </a:solidFill>
          <a:ln w="9525">
            <a:solidFill>
              <a:srgbClr val="333333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8125" y="1745456"/>
            <a:ext cx="326231" cy="57150"/>
          </a:xfrm>
          <a:prstGeom prst="roundRect">
            <a:avLst>
              <a:gd name="adj" fmla="val 33333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수동 운영 의존</a:t>
            </a:r>
            <a:endParaRPr lang="en-US" sz="525" dirty="0"/>
          </a:p>
        </p:txBody>
      </p:sp>
      <p:sp>
        <p:nvSpPr>
          <p:cNvPr id="11" name="Text 9"/>
          <p:cNvSpPr/>
          <p:nvPr/>
        </p:nvSpPr>
        <p:spPr>
          <a:xfrm>
            <a:off x="2551509" y="1548036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A1BF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7484" y="147484"/>
            <a:ext cx="8849032" cy="497758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8994" dist="29497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2452" y="1836174"/>
            <a:ext cx="1970292" cy="1144844"/>
          </a:xfrm>
          <a:prstGeom prst="roundRect">
            <a:avLst>
              <a:gd name="adj" fmla="val 5153"/>
            </a:avLst>
          </a:prstGeom>
          <a:solidFill>
            <a:srgbClr val="448E87"/>
          </a:solidFill>
          <a:ln w="14748">
            <a:solidFill>
              <a:srgbClr val="FFFFFF"/>
            </a:solidFill>
          </a:ln>
          <a:effectLst>
            <a:outerShdw sx="100000" sy="100000" kx="0" ky="0" algn="bl" rotWithShape="0" blurRad="29497" dist="14748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기반</a:t>
            </a:r>
            <a:endParaRPr lang="en-US" sz="1045" dirty="0"/>
          </a:p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최적화</a:t>
            </a:r>
            <a:endParaRPr lang="en-US" sz="1045" dirty="0"/>
          </a:p>
        </p:txBody>
      </p:sp>
      <p:sp>
        <p:nvSpPr>
          <p:cNvPr id="4" name="Text 2"/>
          <p:cNvSpPr/>
          <p:nvPr/>
        </p:nvSpPr>
        <p:spPr>
          <a:xfrm>
            <a:off x="2633970" y="1836174"/>
            <a:ext cx="1970408" cy="1144844"/>
          </a:xfrm>
          <a:prstGeom prst="roundRect">
            <a:avLst>
              <a:gd name="adj" fmla="val 5153"/>
            </a:avLst>
          </a:prstGeom>
          <a:solidFill>
            <a:srgbClr val="9DC3CF"/>
          </a:solidFill>
          <a:ln w="14748">
            <a:solidFill>
              <a:srgbClr val="FFFFFF"/>
            </a:solidFill>
          </a:ln>
          <a:effectLst>
            <a:outerShdw sx="100000" sy="100000" kx="0" ky="0" algn="bl" rotWithShape="0" blurRad="29497" dist="14748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실시간</a:t>
            </a:r>
            <a:endParaRPr lang="en-US" sz="1045" dirty="0"/>
          </a:p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가시성</a:t>
            </a:r>
            <a:endParaRPr lang="en-US" sz="1045" dirty="0"/>
          </a:p>
        </p:txBody>
      </p:sp>
      <p:sp>
        <p:nvSpPr>
          <p:cNvPr id="5" name="Text 3"/>
          <p:cNvSpPr/>
          <p:nvPr/>
        </p:nvSpPr>
        <p:spPr>
          <a:xfrm>
            <a:off x="442452" y="3202244"/>
            <a:ext cx="1970292" cy="1144959"/>
          </a:xfrm>
          <a:prstGeom prst="roundRect">
            <a:avLst>
              <a:gd name="adj" fmla="val 5152"/>
            </a:avLst>
          </a:prstGeom>
          <a:solidFill>
            <a:srgbClr val="418787"/>
          </a:solidFill>
          <a:ln w="14748">
            <a:solidFill>
              <a:srgbClr val="FFFFFF"/>
            </a:solidFill>
          </a:ln>
          <a:effectLst>
            <a:outerShdw sx="100000" sy="100000" kx="0" ky="0" algn="bl" rotWithShape="0" blurRad="29497" dist="14748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클라우드</a:t>
            </a:r>
            <a:endParaRPr lang="en-US" sz="1045" dirty="0"/>
          </a:p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네이티브</a:t>
            </a:r>
            <a:endParaRPr lang="en-US" sz="1045" dirty="0"/>
          </a:p>
        </p:txBody>
      </p:sp>
      <p:sp>
        <p:nvSpPr>
          <p:cNvPr id="6" name="Text 4"/>
          <p:cNvSpPr/>
          <p:nvPr/>
        </p:nvSpPr>
        <p:spPr>
          <a:xfrm>
            <a:off x="2633970" y="3202244"/>
            <a:ext cx="1970408" cy="1144959"/>
          </a:xfrm>
          <a:prstGeom prst="roundRect">
            <a:avLst>
              <a:gd name="adj" fmla="val 5152"/>
            </a:avLst>
          </a:prstGeom>
          <a:solidFill>
            <a:srgbClr val="A4C4B9"/>
          </a:solidFill>
          <a:ln w="14748">
            <a:solidFill>
              <a:srgbClr val="FFFFFF"/>
            </a:solidFill>
          </a:ln>
          <a:effectLst>
            <a:outerShdw sx="100000" sy="100000" kx="0" ky="0" algn="bl" rotWithShape="0" blurRad="29497" dist="14748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데이터 기반</a:t>
            </a:r>
            <a:endParaRPr lang="en-US" sz="1045" dirty="0"/>
          </a:p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경영</a:t>
            </a:r>
            <a:endParaRPr lang="en-US" sz="1045" dirty="0"/>
          </a:p>
        </p:txBody>
      </p:sp>
      <p:sp>
        <p:nvSpPr>
          <p:cNvPr id="7" name="Text 5"/>
          <p:cNvSpPr/>
          <p:nvPr/>
        </p:nvSpPr>
        <p:spPr>
          <a:xfrm>
            <a:off x="2515983" y="2626480"/>
            <a:ext cx="14748" cy="930185"/>
          </a:xfrm>
          <a:prstGeom prst="rect">
            <a:avLst/>
          </a:prstGeom>
          <a:solidFill>
            <a:srgbClr val="CCCC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" y="95250"/>
            <a:ext cx="9144000" cy="349567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47625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9876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88359" y="2034886"/>
            <a:ext cx="3767282" cy="4618"/>
          </a:xfrm>
          <a:prstGeom prst="rect">
            <a:avLst/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152400"/>
            <a:ext cx="8839200" cy="4972050"/>
          </a:xfrm>
          <a:prstGeom prst="roundRect">
            <a:avLst>
              <a:gd name="adj" fmla="val 12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524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182297" y="1765935"/>
            <a:ext cx="1706880" cy="1471374"/>
          </a:xfrm>
          <a:prstGeom prst="rect">
            <a:avLst/>
          </a:prstGeom>
          <a:solidFill>
            <a:srgbClr val="83A99B"/>
          </a:solidFill>
          <a:ln/>
          <a:effectLst>
            <a:outerShdw sx="100000" sy="100000" kx="0" ky="0" algn="bl" rotWithShape="0" blurRad="114300" dist="3048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83969" y="1765935"/>
            <a:ext cx="1706880" cy="1471374"/>
          </a:xfrm>
          <a:prstGeom prst="rect">
            <a:avLst/>
          </a:prstGeom>
          <a:solidFill>
            <a:srgbClr val="E8E8E8"/>
          </a:solidFill>
          <a:ln/>
          <a:effectLst>
            <a:outerShdw sx="100000" sy="100000" kx="0" ky="0" algn="bl" rotWithShape="0" blurRad="114300" dist="3048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16769" y="2551152"/>
            <a:ext cx="1706880" cy="1471374"/>
          </a:xfrm>
          <a:prstGeom prst="rect">
            <a:avLst/>
          </a:prstGeom>
          <a:solidFill>
            <a:srgbClr val="DCF0EF"/>
          </a:solidFill>
          <a:ln/>
          <a:effectLst>
            <a:outerShdw sx="100000" sy="100000" kx="0" ky="0" algn="bl" rotWithShape="0" blurRad="114300" dist="3048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718560" y="2551152"/>
            <a:ext cx="1706880" cy="1471374"/>
          </a:xfrm>
          <a:prstGeom prst="rect">
            <a:avLst/>
          </a:prstGeom>
          <a:solidFill>
            <a:srgbClr val="A1BFB4"/>
          </a:solidFill>
          <a:ln/>
          <a:effectLst>
            <a:outerShdw sx="100000" sy="100000" kx="0" ky="0" algn="bl" rotWithShape="0" blurRad="114300" dist="3048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20232" y="2551152"/>
            <a:ext cx="1706880" cy="1471374"/>
          </a:xfrm>
          <a:prstGeom prst="rect">
            <a:avLst/>
          </a:prstGeom>
          <a:solidFill>
            <a:srgbClr val="578F76"/>
          </a:solidFill>
          <a:ln/>
          <a:effectLst>
            <a:outerShdw sx="100000" sy="100000" kx="0" ky="0" algn="bl" rotWithShape="0" blurRad="114300" dist="3048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91697" y="2893814"/>
            <a:ext cx="274320" cy="27432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0960" dist="1524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78F76"/>
                </a:solidFill>
                <a:latin typeface="카페24 써라운드" pitchFamily="34" charset="0"/>
                <a:ea typeface="카페24 써라운드" pitchFamily="34" charset="-122"/>
                <a:cs typeface="카페24 써라운드" pitchFamily="34" charset="-120"/>
              </a:rPr>
              <a:t>📰</a:t>
            </a:r>
            <a:endParaRPr lang="en-US" sz="1440" dirty="0"/>
          </a:p>
        </p:txBody>
      </p:sp>
      <p:sp>
        <p:nvSpPr>
          <p:cNvPr id="9" name="Text 7"/>
          <p:cNvSpPr/>
          <p:nvPr/>
        </p:nvSpPr>
        <p:spPr>
          <a:xfrm>
            <a:off x="2642592" y="2108597"/>
            <a:ext cx="274320" cy="27432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0960" dist="1524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78F76"/>
                </a:solidFill>
                <a:latin typeface="카페24 써라운드" pitchFamily="34" charset="0"/>
                <a:ea typeface="카페24 써라운드" pitchFamily="34" charset="-122"/>
                <a:cs typeface="카페24 써라운드" pitchFamily="34" charset="-120"/>
              </a:rPr>
              <a:t>🏢</a:t>
            </a:r>
            <a:endParaRPr lang="en-US" sz="1440" dirty="0"/>
          </a:p>
        </p:txBody>
      </p:sp>
      <p:sp>
        <p:nvSpPr>
          <p:cNvPr id="10" name="Text 8"/>
          <p:cNvSpPr/>
          <p:nvPr/>
        </p:nvSpPr>
        <p:spPr>
          <a:xfrm>
            <a:off x="4093369" y="2893814"/>
            <a:ext cx="274320" cy="27432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0960" dist="1524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78F76"/>
                </a:solidFill>
                <a:latin typeface="카페24 써라운드" pitchFamily="34" charset="0"/>
                <a:ea typeface="카페24 써라운드" pitchFamily="34" charset="-122"/>
                <a:cs typeface="카페24 써라운드" pitchFamily="34" charset="-120"/>
              </a:rPr>
              <a:t>🤝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5544264" y="2108597"/>
            <a:ext cx="274320" cy="27432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0960" dist="1524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78F76"/>
                </a:solidFill>
                <a:latin typeface="카페24 써라운드" pitchFamily="34" charset="0"/>
                <a:ea typeface="카페24 써라운드" pitchFamily="34" charset="-122"/>
                <a:cs typeface="카페24 써라운드" pitchFamily="34" charset="-120"/>
              </a:rPr>
              <a:t>⏳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6995160" y="2893814"/>
            <a:ext cx="274320" cy="274320"/>
          </a:xfrm>
          <a:prstGeom prst="roundRect">
            <a:avLst>
              <a:gd name="adj" fmla="val 26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0960" dist="1524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40" dirty="0">
                <a:solidFill>
                  <a:srgbClr val="578F76"/>
                </a:solidFill>
                <a:latin typeface="카페24 써라운드" pitchFamily="34" charset="0"/>
                <a:ea typeface="카페24 써라운드" pitchFamily="34" charset="-122"/>
                <a:cs typeface="카페24 써라운드" pitchFamily="34" charset="-120"/>
              </a:rPr>
              <a:t>💡</a:t>
            </a:r>
            <a:endParaRPr lang="en-US" sz="14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2143125" y="1666875"/>
            <a:ext cx="857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43625" y="1666875"/>
            <a:ext cx="85725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5313" y="1428750"/>
            <a:ext cx="1857375" cy="1857375"/>
          </a:xfrm>
          <a:prstGeom prst="roundRect">
            <a:avLst>
              <a:gd name="adj" fmla="val 24615"/>
            </a:avLst>
          </a:prstGeom>
          <a:solidFill>
            <a:srgbClr val="67B7B5"/>
          </a:solidFill>
          <a:ln w="9525">
            <a:solidFill>
              <a:srgbClr val="999999"/>
            </a:solidFill>
          </a:ln>
          <a:effectLst>
            <a:outerShdw sx="100000" sy="100000" kx="0" ky="0" algn="bl" rotWithShape="0" blurRad="95250" dist="20206" dir="27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76739" y="3688035"/>
            <a:ext cx="189452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8"/>
              </a:lnSpc>
              <a:buNone/>
            </a:pPr>
            <a:r>
              <a:rPr lang="en-US" sz="825" dirty="0">
                <a:solidFill>
                  <a:srgbClr val="1533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프로세스 시작을 위한 준비 및 계획 수립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3643313" y="1428750"/>
            <a:ext cx="1857375" cy="1857375"/>
          </a:xfrm>
          <a:prstGeom prst="roundRect">
            <a:avLst>
              <a:gd name="adj" fmla="val 24615"/>
            </a:avLst>
          </a:prstGeom>
          <a:solidFill>
            <a:srgbClr val="D0D5AF"/>
          </a:solidFill>
          <a:ln w="9525">
            <a:solidFill>
              <a:srgbClr val="999999"/>
            </a:solidFill>
          </a:ln>
          <a:effectLst>
            <a:outerShdw sx="100000" sy="100000" kx="0" ky="0" algn="bl" rotWithShape="0" blurRad="95250" dist="20206" dir="27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624739" y="3688035"/>
            <a:ext cx="189452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8"/>
              </a:lnSpc>
              <a:buNone/>
            </a:pPr>
            <a:r>
              <a:rPr lang="en-US" sz="825" dirty="0">
                <a:solidFill>
                  <a:srgbClr val="1533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계획을 바탕으로 실제 작업 수행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6691313" y="1428750"/>
            <a:ext cx="1857375" cy="1857375"/>
          </a:xfrm>
          <a:prstGeom prst="roundRect">
            <a:avLst>
              <a:gd name="adj" fmla="val 24615"/>
            </a:avLst>
          </a:prstGeom>
          <a:solidFill>
            <a:srgbClr val="99C7BF"/>
          </a:solidFill>
          <a:ln w="9525">
            <a:solidFill>
              <a:srgbClr val="999999"/>
            </a:solidFill>
          </a:ln>
          <a:effectLst>
            <a:outerShdw sx="100000" sy="100000" kx="0" ky="0" algn="bl" rotWithShape="0" blurRad="95250" dist="20206" dir="27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672739" y="3688035"/>
            <a:ext cx="189452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38"/>
              </a:lnSpc>
              <a:buNone/>
            </a:pPr>
            <a:r>
              <a:rPr lang="en-US" sz="825" dirty="0">
                <a:solidFill>
                  <a:srgbClr val="15332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결과 검증 및 최종 확인</a:t>
            </a:r>
            <a:endParaRPr lang="en-US" sz="8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4253" y="1028700"/>
            <a:ext cx="2750455" cy="1890192"/>
          </a:xfrm>
          <a:prstGeom prst="roundRect">
            <a:avLst>
              <a:gd name="adj" fmla="val 7559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7128" y="885825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310333" y="1314450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38958" y="885825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96605" y="1028700"/>
            <a:ext cx="2750455" cy="1890192"/>
          </a:xfrm>
          <a:prstGeom prst="roundRect">
            <a:avLst>
              <a:gd name="adj" fmla="val 7559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339480" y="885825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32685" y="1314450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1310" y="885825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18957" y="1028700"/>
            <a:ext cx="2750567" cy="1890192"/>
          </a:xfrm>
          <a:prstGeom prst="roundRect">
            <a:avLst>
              <a:gd name="adj" fmla="val 7559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61832" y="885825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155149" y="1314450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83774" y="885825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253" y="2996022"/>
            <a:ext cx="2750455" cy="1890303"/>
          </a:xfrm>
          <a:prstGeom prst="roundRect">
            <a:avLst>
              <a:gd name="adj" fmla="val 7558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17128" y="2853147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310333" y="3281772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38958" y="2853147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96605" y="2996022"/>
            <a:ext cx="2750455" cy="1890303"/>
          </a:xfrm>
          <a:prstGeom prst="roundRect">
            <a:avLst>
              <a:gd name="adj" fmla="val 7558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39480" y="2853147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232685" y="3281772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1310" y="2853147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18957" y="2996022"/>
            <a:ext cx="2750567" cy="1890303"/>
          </a:xfrm>
          <a:prstGeom prst="roundRect">
            <a:avLst>
              <a:gd name="adj" fmla="val 7558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61832" y="2853147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6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155149" y="3281772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83774" y="2853147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0" y="190500"/>
            <a:ext cx="8763000" cy="5143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57625" y="2047875"/>
            <a:ext cx="1428750" cy="1428750"/>
          </a:xfrm>
          <a:prstGeom prst="roundRect">
            <a:avLst>
              <a:gd name="adj" fmla="val 64000"/>
            </a:avLst>
          </a:prstGeom>
          <a:solidFill>
            <a:srgbClr val="22523B"/>
          </a:solidFill>
          <a:ln/>
          <a:effectLst>
            <a:outerShdw sx="100000" sy="100000" kx="0" ky="0" algn="bl" rotWithShape="0" blurRad="114300" dist="38100" dir="5400000">
              <a:srgbClr val="22523b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000500" y="381000"/>
            <a:ext cx="1143000" cy="523875"/>
          </a:xfrm>
          <a:prstGeom prst="roundRect">
            <a:avLst>
              <a:gd name="adj" fmla="val 7273"/>
            </a:avLst>
          </a:prstGeom>
          <a:solidFill>
            <a:srgbClr val="F9F9F9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33375" y="2500313"/>
            <a:ext cx="1143000" cy="523875"/>
          </a:xfrm>
          <a:prstGeom prst="roundRect">
            <a:avLst>
              <a:gd name="adj" fmla="val 7273"/>
            </a:avLst>
          </a:prstGeom>
          <a:solidFill>
            <a:srgbClr val="F9F9F9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67625" y="2500313"/>
            <a:ext cx="1143000" cy="523875"/>
          </a:xfrm>
          <a:prstGeom prst="roundRect">
            <a:avLst>
              <a:gd name="adj" fmla="val 7273"/>
            </a:avLst>
          </a:prstGeom>
          <a:solidFill>
            <a:srgbClr val="F9F9F9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61950" y="4572000"/>
            <a:ext cx="1143000" cy="523875"/>
          </a:xfrm>
          <a:prstGeom prst="roundRect">
            <a:avLst>
              <a:gd name="adj" fmla="val 7273"/>
            </a:avLst>
          </a:prstGeom>
          <a:solidFill>
            <a:srgbClr val="F9F9F9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39050" y="4572000"/>
            <a:ext cx="1143000" cy="523875"/>
          </a:xfrm>
          <a:prstGeom prst="roundRect">
            <a:avLst>
              <a:gd name="adj" fmla="val 7273"/>
            </a:avLst>
          </a:prstGeom>
          <a:solidFill>
            <a:srgbClr val="F9F9F9"/>
          </a:solidFill>
          <a:ln w="9525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2364"/>
            <a:ext cx="9144000" cy="498763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5418" dist="18473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66882" y="1673947"/>
            <a:ext cx="1926287" cy="5046807"/>
          </a:xfrm>
          <a:prstGeom prst="roundRect">
            <a:avLst>
              <a:gd name="adj" fmla="val 959"/>
            </a:avLst>
          </a:prstGeom>
          <a:solidFill>
            <a:srgbClr val="609E67"/>
          </a:solidFill>
          <a:ln/>
          <a:effectLst>
            <a:outerShdw sx="100000" sy="100000" kx="0" ky="0" algn="bl" rotWithShape="0" blurRad="36945" dist="9236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594769" y="1673947"/>
            <a:ext cx="1926359" cy="5047023"/>
          </a:xfrm>
          <a:prstGeom prst="roundRect">
            <a:avLst>
              <a:gd name="adj" fmla="val 959"/>
            </a:avLst>
          </a:prstGeom>
          <a:solidFill>
            <a:srgbClr val="67B7B5"/>
          </a:solidFill>
          <a:ln/>
          <a:effectLst>
            <a:outerShdw sx="100000" sy="100000" kx="0" ky="0" algn="bl" rotWithShape="0" blurRad="36945" dist="9236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22728" y="1673947"/>
            <a:ext cx="1926287" cy="5046807"/>
          </a:xfrm>
          <a:prstGeom prst="roundRect">
            <a:avLst>
              <a:gd name="adj" fmla="val 959"/>
            </a:avLst>
          </a:prstGeom>
          <a:solidFill>
            <a:srgbClr val="0066B2"/>
          </a:solidFill>
          <a:ln/>
          <a:effectLst>
            <a:outerShdw sx="100000" sy="100000" kx="0" ky="0" algn="bl" rotWithShape="0" blurRad="36945" dist="9236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50615" y="1673947"/>
            <a:ext cx="1926359" cy="5047023"/>
          </a:xfrm>
          <a:prstGeom prst="roundRect">
            <a:avLst>
              <a:gd name="adj" fmla="val 959"/>
            </a:avLst>
          </a:prstGeom>
          <a:solidFill>
            <a:srgbClr val="153325"/>
          </a:solidFill>
          <a:ln/>
          <a:effectLst>
            <a:outerShdw sx="100000" sy="100000" kx="0" ky="0" algn="bl" rotWithShape="0" blurRad="36945" dist="9236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9876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88359" y="2034886"/>
            <a:ext cx="3767282" cy="4618"/>
          </a:xfrm>
          <a:prstGeom prst="rect">
            <a:avLst/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7484" y="147484"/>
            <a:ext cx="8849032" cy="497758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8994" dist="29497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2452" y="1836174"/>
            <a:ext cx="1970292" cy="1144844"/>
          </a:xfrm>
          <a:prstGeom prst="roundRect">
            <a:avLst>
              <a:gd name="adj" fmla="val 5153"/>
            </a:avLst>
          </a:prstGeom>
          <a:solidFill>
            <a:srgbClr val="448E87"/>
          </a:solidFill>
          <a:ln w="14748">
            <a:solidFill>
              <a:srgbClr val="FFFFFF"/>
            </a:solidFill>
          </a:ln>
          <a:effectLst>
            <a:outerShdw sx="100000" sy="100000" kx="0" ky="0" algn="bl" rotWithShape="0" blurRad="29497" dist="14748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</a:t>
            </a:r>
            <a:endParaRPr lang="en-US" sz="1045" dirty="0"/>
          </a:p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김철수</a:t>
            </a:r>
            <a:endParaRPr lang="en-US" sz="1045" dirty="0"/>
          </a:p>
        </p:txBody>
      </p:sp>
      <p:sp>
        <p:nvSpPr>
          <p:cNvPr id="4" name="Text 2"/>
          <p:cNvSpPr/>
          <p:nvPr/>
        </p:nvSpPr>
        <p:spPr>
          <a:xfrm>
            <a:off x="2633970" y="1836174"/>
            <a:ext cx="1970408" cy="1144844"/>
          </a:xfrm>
          <a:prstGeom prst="roundRect">
            <a:avLst>
              <a:gd name="adj" fmla="val 5153"/>
            </a:avLst>
          </a:prstGeom>
          <a:solidFill>
            <a:srgbClr val="9DC3CF"/>
          </a:solidFill>
          <a:ln w="14748">
            <a:solidFill>
              <a:srgbClr val="FFFFFF"/>
            </a:solidFill>
          </a:ln>
          <a:effectLst>
            <a:outerShdw sx="100000" sy="100000" kx="0" ky="0" algn="bl" rotWithShape="0" blurRad="29497" dist="14748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AA</a:t>
            </a:r>
            <a:endParaRPr lang="en-US" sz="1045" dirty="0"/>
          </a:p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박준형</a:t>
            </a:r>
            <a:endParaRPr lang="en-US" sz="1045" dirty="0"/>
          </a:p>
        </p:txBody>
      </p:sp>
      <p:sp>
        <p:nvSpPr>
          <p:cNvPr id="5" name="Text 3"/>
          <p:cNvSpPr/>
          <p:nvPr/>
        </p:nvSpPr>
        <p:spPr>
          <a:xfrm>
            <a:off x="442452" y="3202244"/>
            <a:ext cx="1970292" cy="1144959"/>
          </a:xfrm>
          <a:prstGeom prst="roundRect">
            <a:avLst>
              <a:gd name="adj" fmla="val 5152"/>
            </a:avLst>
          </a:prstGeom>
          <a:solidFill>
            <a:srgbClr val="418787"/>
          </a:solidFill>
          <a:ln w="14748">
            <a:solidFill>
              <a:srgbClr val="FFFFFF"/>
            </a:solidFill>
          </a:ln>
          <a:effectLst>
            <a:outerShdw sx="100000" sy="100000" kx="0" ky="0" algn="bl" rotWithShape="0" blurRad="29497" dist="14748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1045" dirty="0"/>
          </a:p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최수진</a:t>
            </a:r>
            <a:endParaRPr lang="en-US" sz="1045" dirty="0"/>
          </a:p>
        </p:txBody>
      </p:sp>
      <p:sp>
        <p:nvSpPr>
          <p:cNvPr id="6" name="Text 4"/>
          <p:cNvSpPr/>
          <p:nvPr/>
        </p:nvSpPr>
        <p:spPr>
          <a:xfrm>
            <a:off x="2633970" y="3202244"/>
            <a:ext cx="1970408" cy="1144959"/>
          </a:xfrm>
          <a:prstGeom prst="roundRect">
            <a:avLst>
              <a:gd name="adj" fmla="val 5152"/>
            </a:avLst>
          </a:prstGeom>
          <a:solidFill>
            <a:srgbClr val="A4C4B9"/>
          </a:solidFill>
          <a:ln w="14748">
            <a:solidFill>
              <a:srgbClr val="FFFFFF"/>
            </a:solidFill>
          </a:ln>
          <a:effectLst>
            <a:outerShdw sx="100000" sy="100000" kx="0" ky="0" algn="bl" rotWithShape="0" blurRad="29497" dist="14748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DBA</a:t>
            </a:r>
            <a:endParaRPr lang="en-US" sz="1045" dirty="0"/>
          </a:p>
          <a:p>
            <a:pPr algn="ctr" indent="0" marL="0">
              <a:buNone/>
            </a:pPr>
            <a:r>
              <a:rPr lang="en-US" sz="1045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오현우</a:t>
            </a:r>
            <a:endParaRPr lang="en-US" sz="1045" dirty="0"/>
          </a:p>
        </p:txBody>
      </p:sp>
      <p:sp>
        <p:nvSpPr>
          <p:cNvPr id="7" name="Text 5"/>
          <p:cNvSpPr/>
          <p:nvPr/>
        </p:nvSpPr>
        <p:spPr>
          <a:xfrm>
            <a:off x="2515983" y="2626480"/>
            <a:ext cx="14748" cy="930185"/>
          </a:xfrm>
          <a:prstGeom prst="rect">
            <a:avLst/>
          </a:prstGeom>
          <a:solidFill>
            <a:srgbClr val="CCCC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9876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0284" y="618403"/>
            <a:ext cx="3648436" cy="4433960"/>
          </a:xfrm>
          <a:prstGeom prst="roundRect">
            <a:avLst>
              <a:gd name="adj" fmla="val 1013"/>
            </a:avLst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4253" y="1028700"/>
            <a:ext cx="2750455" cy="1890192"/>
          </a:xfrm>
          <a:prstGeom prst="roundRect">
            <a:avLst>
              <a:gd name="adj" fmla="val 7559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17128" y="885825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310333" y="1314450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38958" y="885825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96605" y="1028700"/>
            <a:ext cx="2750455" cy="1890192"/>
          </a:xfrm>
          <a:prstGeom prst="roundRect">
            <a:avLst>
              <a:gd name="adj" fmla="val 7559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339480" y="885825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32685" y="1314450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1310" y="885825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18957" y="1028700"/>
            <a:ext cx="2750567" cy="1890192"/>
          </a:xfrm>
          <a:prstGeom prst="roundRect">
            <a:avLst>
              <a:gd name="adj" fmla="val 7559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61832" y="885825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155149" y="1314450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83774" y="885825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253" y="2996022"/>
            <a:ext cx="2750455" cy="1890303"/>
          </a:xfrm>
          <a:prstGeom prst="roundRect">
            <a:avLst>
              <a:gd name="adj" fmla="val 7558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17128" y="2853147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310333" y="3281772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38958" y="2853147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96605" y="2996022"/>
            <a:ext cx="2750455" cy="1890303"/>
          </a:xfrm>
          <a:prstGeom prst="roundRect">
            <a:avLst>
              <a:gd name="adj" fmla="val 7558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39480" y="2853147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232685" y="3281772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1310" y="2853147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18957" y="2996022"/>
            <a:ext cx="2750567" cy="1890303"/>
          </a:xfrm>
          <a:prstGeom prst="roundRect">
            <a:avLst>
              <a:gd name="adj" fmla="val 7558"/>
            </a:avLst>
          </a:prstGeom>
          <a:solidFill>
            <a:srgbClr val="F5F7F6"/>
          </a:solidFill>
          <a:ln/>
          <a:effectLst>
            <a:outerShdw sx="100000" sy="100000" kx="0" ky="0" algn="bl" rotWithShape="0" blurRad="57150" dist="14288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61832" y="2853147"/>
            <a:ext cx="714375" cy="714375"/>
          </a:xfrm>
          <a:prstGeom prst="roundRect">
            <a:avLst>
              <a:gd name="adj" fmla="val 96000"/>
            </a:avLst>
          </a:prstGeom>
          <a:solidFill>
            <a:srgbClr val="A1BFB4"/>
          </a:solidFill>
          <a:ln/>
          <a:effectLst>
            <a:outerShdw sx="100000" sy="100000" kx="0" ky="0" algn="bl" rotWithShape="0" blurRad="57150" dist="14288" dir="5400000">
              <a:srgbClr val="a1bfb4">
                <a:alpha val="3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6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155149" y="3281772"/>
            <a:ext cx="857250" cy="0"/>
          </a:xfrm>
          <a:prstGeom prst="line">
            <a:avLst/>
          </a:prstGeom>
          <a:noFill/>
          <a:ln w="857250">
            <a:solidFill>
              <a:srgbClr val="A1BFB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83774" y="2853147"/>
            <a:ext cx="0" cy="857250"/>
          </a:xfrm>
          <a:prstGeom prst="line">
            <a:avLst/>
          </a:prstGeom>
          <a:noFill/>
          <a:ln w="8572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" y="190500"/>
            <a:ext cx="9144000" cy="349567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81063" y="476250"/>
            <a:ext cx="1143000" cy="1143000"/>
          </a:xfrm>
          <a:prstGeom prst="roundRect">
            <a:avLst>
              <a:gd name="adj" fmla="val 40000"/>
            </a:avLst>
          </a:prstGeom>
          <a:solidFill>
            <a:srgbClr val="C7DBD4"/>
          </a:solidFill>
          <a:ln/>
          <a:effectLst>
            <a:outerShdw sx="100000" sy="100000" kx="0" ky="0" algn="bl" rotWithShape="0" blurRad="38100" dist="9525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88219" y="583406"/>
            <a:ext cx="928688" cy="928688"/>
          </a:xfrm>
          <a:prstGeom prst="roundRect">
            <a:avLst>
              <a:gd name="adj" fmla="val 49231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024188" y="476250"/>
            <a:ext cx="1143000" cy="1143000"/>
          </a:xfrm>
          <a:prstGeom prst="roundRect">
            <a:avLst>
              <a:gd name="adj" fmla="val 40000"/>
            </a:avLst>
          </a:prstGeom>
          <a:solidFill>
            <a:srgbClr val="A4C4B9"/>
          </a:solidFill>
          <a:ln/>
          <a:effectLst>
            <a:outerShdw sx="100000" sy="100000" kx="0" ky="0" algn="bl" rotWithShape="0" blurRad="38100" dist="9525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31344" y="583406"/>
            <a:ext cx="928688" cy="928688"/>
          </a:xfrm>
          <a:prstGeom prst="roundRect">
            <a:avLst>
              <a:gd name="adj" fmla="val 49231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67313" y="476250"/>
            <a:ext cx="1143000" cy="1143000"/>
          </a:xfrm>
          <a:prstGeom prst="roundRect">
            <a:avLst>
              <a:gd name="adj" fmla="val 40000"/>
            </a:avLst>
          </a:prstGeom>
          <a:solidFill>
            <a:srgbClr val="85B1A1"/>
          </a:solidFill>
          <a:ln/>
          <a:effectLst>
            <a:outerShdw sx="100000" sy="100000" kx="0" ky="0" algn="bl" rotWithShape="0" blurRad="38100" dist="9525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274469" y="583406"/>
            <a:ext cx="928688" cy="928688"/>
          </a:xfrm>
          <a:prstGeom prst="roundRect">
            <a:avLst>
              <a:gd name="adj" fmla="val 49231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10438" y="476250"/>
            <a:ext cx="1143000" cy="1143000"/>
          </a:xfrm>
          <a:prstGeom prst="roundRect">
            <a:avLst>
              <a:gd name="adj" fmla="val 40000"/>
            </a:avLst>
          </a:prstGeom>
          <a:solidFill>
            <a:srgbClr val="418787"/>
          </a:solidFill>
          <a:ln/>
          <a:effectLst>
            <a:outerShdw sx="100000" sy="100000" kx="0" ky="0" algn="bl" rotWithShape="0" blurRad="38100" dist="9525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17594" y="583406"/>
            <a:ext cx="928688" cy="928688"/>
          </a:xfrm>
          <a:prstGeom prst="roundRect">
            <a:avLst>
              <a:gd name="adj" fmla="val 49231"/>
            </a:avLst>
          </a:prstGeom>
          <a:solidFill>
            <a:srgbClr val="FFFFFF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" y="95250"/>
            <a:ext cx="4572000" cy="174783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58366" y="190500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C4D6D0"/>
          </a:solidFill>
          <a:ln w="9525">
            <a:solidFill>
              <a:srgbClr val="999999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8125" y="416719"/>
            <a:ext cx="326231" cy="57150"/>
          </a:xfrm>
          <a:prstGeom prst="roundRect">
            <a:avLst>
              <a:gd name="adj" fmla="val 33333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요구사항 변경 (High)</a:t>
            </a:r>
            <a:endParaRPr lang="en-US" sz="525" dirty="0"/>
          </a:p>
        </p:txBody>
      </p:sp>
      <p:sp>
        <p:nvSpPr>
          <p:cNvPr id="5" name="Text 3"/>
          <p:cNvSpPr/>
          <p:nvPr/>
        </p:nvSpPr>
        <p:spPr>
          <a:xfrm>
            <a:off x="2551509" y="219298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15332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8366" y="854869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83A99B"/>
          </a:solidFill>
          <a:ln w="9525">
            <a:solidFill>
              <a:srgbClr val="666666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38125" y="1081088"/>
            <a:ext cx="326231" cy="57150"/>
          </a:xfrm>
          <a:prstGeom prst="roundRect">
            <a:avLst>
              <a:gd name="adj" fmla="val 33333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일정 지연 (Medium)</a:t>
            </a:r>
            <a:endParaRPr lang="en-US" sz="525" dirty="0"/>
          </a:p>
        </p:txBody>
      </p:sp>
      <p:sp>
        <p:nvSpPr>
          <p:cNvPr id="8" name="Text 6"/>
          <p:cNvSpPr/>
          <p:nvPr/>
        </p:nvSpPr>
        <p:spPr>
          <a:xfrm>
            <a:off x="2551509" y="883667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67B7B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58366" y="1519238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479374"/>
          </a:solidFill>
          <a:ln w="9525">
            <a:solidFill>
              <a:srgbClr val="333333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8125" y="1745456"/>
            <a:ext cx="326231" cy="95250"/>
          </a:xfrm>
          <a:prstGeom prst="roundRect">
            <a:avLst>
              <a:gd name="adj" fmla="val 20000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데이터 이관 실패 (High)</a:t>
            </a:r>
            <a:endParaRPr lang="en-US" sz="525" dirty="0"/>
          </a:p>
        </p:txBody>
      </p:sp>
      <p:sp>
        <p:nvSpPr>
          <p:cNvPr id="11" name="Text 9"/>
          <p:cNvSpPr/>
          <p:nvPr/>
        </p:nvSpPr>
        <p:spPr>
          <a:xfrm>
            <a:off x="2551509" y="1567086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A1BF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" y="95250"/>
            <a:ext cx="4572000" cy="174783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58366" y="190500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C4D6D0"/>
          </a:solidFill>
          <a:ln w="9525">
            <a:solidFill>
              <a:srgbClr val="999999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8125" y="416719"/>
            <a:ext cx="326231" cy="57150"/>
          </a:xfrm>
          <a:prstGeom prst="roundRect">
            <a:avLst>
              <a:gd name="adj" fmla="val 33333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프로젝트 환경 지원</a:t>
            </a:r>
            <a:endParaRPr lang="en-US" sz="525" dirty="0"/>
          </a:p>
        </p:txBody>
      </p:sp>
      <p:sp>
        <p:nvSpPr>
          <p:cNvPr id="5" name="Text 3"/>
          <p:cNvSpPr/>
          <p:nvPr/>
        </p:nvSpPr>
        <p:spPr>
          <a:xfrm>
            <a:off x="2551509" y="219298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15332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8366" y="854869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83A99B"/>
          </a:solidFill>
          <a:ln w="9525">
            <a:solidFill>
              <a:srgbClr val="666666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38125" y="1081088"/>
            <a:ext cx="326231" cy="57150"/>
          </a:xfrm>
          <a:prstGeom prst="roundRect">
            <a:avLst>
              <a:gd name="adj" fmla="val 33333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데이터 및 자료 지원</a:t>
            </a:r>
            <a:endParaRPr lang="en-US" sz="525" dirty="0"/>
          </a:p>
        </p:txBody>
      </p:sp>
      <p:sp>
        <p:nvSpPr>
          <p:cNvPr id="8" name="Text 6"/>
          <p:cNvSpPr/>
          <p:nvPr/>
        </p:nvSpPr>
        <p:spPr>
          <a:xfrm>
            <a:off x="2551509" y="883667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67B7B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58366" y="1519238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479374"/>
          </a:solidFill>
          <a:ln w="9525">
            <a:solidFill>
              <a:srgbClr val="333333"/>
            </a:solidFill>
          </a:ln>
          <a:effectLst>
            <a:outerShdw sx="100000" sy="100000" kx="0" ky="0" algn="bl" rotWithShape="0" blurRad="19050" dist="952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8125" y="1745456"/>
            <a:ext cx="326231" cy="57150"/>
          </a:xfrm>
          <a:prstGeom prst="roundRect">
            <a:avLst>
              <a:gd name="adj" fmla="val 33333"/>
            </a:avLst>
          </a:prstGeom>
          <a:solidFill>
            <a:srgbClr val="000000">
              <a:alpha val="20000"/>
            </a:srgbClr>
          </a:solidFill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525" b="1" dirty="0">
                <a:solidFill>
                  <a:srgbClr val="FFFFF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현업 참여 지원</a:t>
            </a:r>
            <a:endParaRPr lang="en-US" sz="525" dirty="0"/>
          </a:p>
        </p:txBody>
      </p:sp>
      <p:sp>
        <p:nvSpPr>
          <p:cNvPr id="11" name="Text 9"/>
          <p:cNvSpPr/>
          <p:nvPr/>
        </p:nvSpPr>
        <p:spPr>
          <a:xfrm>
            <a:off x="2551509" y="1548036"/>
            <a:ext cx="1972866" cy="225735"/>
          </a:xfrm>
          <a:prstGeom prst="roundRect">
            <a:avLst>
              <a:gd name="adj" fmla="val 8439"/>
            </a:avLst>
          </a:prstGeom>
          <a:solidFill>
            <a:srgbClr val="FFFFFF"/>
          </a:solidFill>
          <a:ln w="9525">
            <a:solidFill>
              <a:srgbClr val="A1BF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49876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10284" y="618403"/>
            <a:ext cx="3648436" cy="4433960"/>
          </a:xfrm>
          <a:prstGeom prst="roundRect">
            <a:avLst>
              <a:gd name="adj" fmla="val 1013"/>
            </a:avLst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5250"/>
            <a:ext cx="9144000" cy="5143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9525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905247" y="779264"/>
            <a:ext cx="7342584" cy="19050"/>
          </a:xfrm>
          <a:prstGeom prst="rect">
            <a:avLst/>
          </a:prstGeom>
          <a:solidFill>
            <a:srgbClr val="15332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14600" y="465534"/>
            <a:ext cx="4069035" cy="622325"/>
          </a:xfrm>
          <a:prstGeom prst="roundRect">
            <a:avLst>
              <a:gd name="adj" fmla="val 6122"/>
            </a:avLst>
          </a:prstGeom>
          <a:solidFill>
            <a:srgbClr val="2252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05247" y="3675087"/>
            <a:ext cx="7342584" cy="19050"/>
          </a:xfrm>
          <a:prstGeom prst="rect">
            <a:avLst/>
          </a:prstGeom>
          <a:solidFill>
            <a:srgbClr val="15332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스마트 물류관리 시스템 구축 착수보고</dc:title>
  <dc:subject>착수보고회 발표자료</dc:subject>
  <dc:creator>테크솔루션</dc:creator>
  <cp:lastModifiedBy>테크솔루션</cp:lastModifiedBy>
  <cp:revision>1</cp:revision>
  <dcterms:created xsi:type="dcterms:W3CDTF">2026-01-16T06:36:28Z</dcterms:created>
  <dcterms:modified xsi:type="dcterms:W3CDTF">2026-01-16T06:36:28Z</dcterms:modified>
</cp:coreProperties>
</file>