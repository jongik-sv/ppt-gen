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8" r:id="rId14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  <p:sldId id="344" r:id="rId101"/>
    <p:sldId id="345" r:id="rId102"/>
    <p:sldId id="346" r:id="rId103"/>
    <p:sldId id="347" r:id="rId104"/>
    <p:sldId id="348" r:id="rId105"/>
    <p:sldId id="349" r:id="rId106"/>
    <p:sldId id="350" r:id="rId107"/>
  </p:sldIdLst>
  <p:sldSz cx="9906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4" Type="http://schemas.openxmlformats.org/officeDocument/2006/relationships/slide" Target="slides/slide1.xml"/><Relationship Id="rId88" Type="http://schemas.openxmlformats.org/officeDocument/2006/relationships/presProps" Target="presProps.xml"/><Relationship Id="rId89" Type="http://schemas.openxmlformats.org/officeDocument/2006/relationships/slide" Target="slides/slide2.xml"/><Relationship Id="rId90" Type="http://schemas.openxmlformats.org/officeDocument/2006/relationships/slide" Target="slides/slide3.xml"/><Relationship Id="rId91" Type="http://schemas.openxmlformats.org/officeDocument/2006/relationships/slide" Target="slides/slide4.xml"/><Relationship Id="rId92" Type="http://schemas.openxmlformats.org/officeDocument/2006/relationships/slide" Target="slides/slide5.xml"/><Relationship Id="rId93" Type="http://schemas.openxmlformats.org/officeDocument/2006/relationships/slide" Target="slides/slide6.xml"/><Relationship Id="rId94" Type="http://schemas.openxmlformats.org/officeDocument/2006/relationships/slide" Target="slides/slide7.xml"/><Relationship Id="rId95" Type="http://schemas.openxmlformats.org/officeDocument/2006/relationships/slide" Target="slides/slide8.xml"/><Relationship Id="rId96" Type="http://schemas.openxmlformats.org/officeDocument/2006/relationships/slide" Target="slides/slide9.xml"/><Relationship Id="rId97" Type="http://schemas.openxmlformats.org/officeDocument/2006/relationships/slide" Target="slides/slide10.xml"/><Relationship Id="rId98" Type="http://schemas.openxmlformats.org/officeDocument/2006/relationships/slide" Target="slides/slide11.xml"/><Relationship Id="rId99" Type="http://schemas.openxmlformats.org/officeDocument/2006/relationships/slide" Target="slides/slide12.xml"/><Relationship Id="rId100" Type="http://schemas.openxmlformats.org/officeDocument/2006/relationships/slide" Target="slides/slide13.xml"/><Relationship Id="rId101" Type="http://schemas.openxmlformats.org/officeDocument/2006/relationships/slide" Target="slides/slide14.xml"/><Relationship Id="rId102" Type="http://schemas.openxmlformats.org/officeDocument/2006/relationships/slide" Target="slides/slide15.xml"/><Relationship Id="rId103" Type="http://schemas.openxmlformats.org/officeDocument/2006/relationships/slide" Target="slides/slide16.xml"/><Relationship Id="rId104" Type="http://schemas.openxmlformats.org/officeDocument/2006/relationships/slide" Target="slides/slide17.xml"/><Relationship Id="rId105" Type="http://schemas.openxmlformats.org/officeDocument/2006/relationships/slide" Target="slides/slide18.xml"/><Relationship Id="rId106" Type="http://schemas.openxmlformats.org/officeDocument/2006/relationships/slide" Target="slides/slide19.xml"/><Relationship Id="rId107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AB26DC-60DE-4D87-A414-527EB8E94D1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3266323-C252-4600-9BDA-DF9CF07C9751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4" name="직사각형 9"/>
          <p:cNvSpPr/>
          <p:nvPr/>
        </p:nvSpPr>
        <p:spPr>
          <a:xfrm>
            <a:off x="0" y="-2880"/>
            <a:ext cx="9905040" cy="3492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grpSp>
        <p:nvGrpSpPr>
          <p:cNvPr id="5" name="그룹 11"/>
          <p:cNvGrpSpPr/>
          <p:nvPr/>
        </p:nvGrpSpPr>
        <p:grpSpPr>
          <a:xfrm>
            <a:off x="5705280" y="0"/>
            <a:ext cx="4199760" cy="6231240"/>
            <a:chOff x="5705280" y="0"/>
            <a:chExt cx="4199760" cy="6231240"/>
          </a:xfrm>
        </p:grpSpPr>
        <p:sp>
          <p:nvSpPr>
            <p:cNvPr id="6" name="직사각형 6"/>
            <p:cNvSpPr/>
            <p:nvPr/>
          </p:nvSpPr>
          <p:spPr>
            <a:xfrm rot="2515200">
              <a:off x="6609960" y="3163680"/>
              <a:ext cx="1055880" cy="3113280"/>
            </a:xfrm>
            <a:custGeom>
              <a:avLst/>
              <a:gdLst>
                <a:gd name="textAreaLeft" fmla="*/ 0 w 1055880"/>
                <a:gd name="textAreaRight" fmla="*/ 1056960 w 1055880"/>
                <a:gd name="textAreaTop" fmla="*/ 0 h 3113280"/>
                <a:gd name="textAreaBottom" fmla="*/ 3114360 h 311328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" name="직사각형 7"/>
            <p:cNvSpPr/>
            <p:nvPr/>
          </p:nvSpPr>
          <p:spPr>
            <a:xfrm>
              <a:off x="7094520" y="0"/>
              <a:ext cx="2810520" cy="2544480"/>
            </a:xfrm>
            <a:custGeom>
              <a:avLst/>
              <a:gdLst>
                <a:gd name="textAreaLeft" fmla="*/ 0 w 2810520"/>
                <a:gd name="textAreaRight" fmla="*/ 2811600 w 2810520"/>
                <a:gd name="textAreaTop" fmla="*/ 0 h 2544480"/>
                <a:gd name="textAreaBottom" fmla="*/ 2545560 h 254448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" name="자유형 15"/>
            <p:cNvSpPr/>
            <p:nvPr/>
          </p:nvSpPr>
          <p:spPr>
            <a:xfrm rot="16200000">
              <a:off x="6963840" y="1905480"/>
              <a:ext cx="4047120" cy="1834560"/>
            </a:xfrm>
            <a:custGeom>
              <a:avLst/>
              <a:gdLst>
                <a:gd name="textAreaLeft" fmla="*/ 0 w 4047120"/>
                <a:gd name="textAreaRight" fmla="*/ 4048200 w 4047120"/>
                <a:gd name="textAreaTop" fmla="*/ 0 h 1834560"/>
                <a:gd name="textAreaBottom" fmla="*/ 1835640 h 183456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9" name="그림 16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</a:t>
            </a: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3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4" name="개체 1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15" name="직사각형 10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16" name="직선 연결선 12"/>
          <p:cNvCxnSpPr/>
          <p:nvPr/>
        </p:nvCxnSpPr>
        <p:spPr>
          <a:xfrm>
            <a:off x="270000" y="540000"/>
            <a:ext cx="9363960" cy="108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17" name="그림 9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ftr" idx="1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2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EF6921-B512-407C-A1EA-F22117F0723F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2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23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24" name="그림 9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520" cy="3263400"/>
          </a:xfrm>
          <a:prstGeom prst="rect">
            <a:avLst/>
          </a:prstGeom>
          <a:ln w="0">
            <a:noFill/>
          </a:ln>
        </p:spPr>
      </p:pic>
      <p:sp>
        <p:nvSpPr>
          <p:cNvPr id="25" name="직사각형 10"/>
          <p:cNvSpPr/>
          <p:nvPr/>
        </p:nvSpPr>
        <p:spPr>
          <a:xfrm>
            <a:off x="0" y="-2880"/>
            <a:ext cx="9905040" cy="3492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26" name="그림 11" descr=""/>
          <p:cNvPicPr/>
          <p:nvPr/>
        </p:nvPicPr>
        <p:blipFill>
          <a:blip r:embed="rId6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1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2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33" name="직사각형 10"/>
          <p:cNvSpPr/>
          <p:nvPr/>
        </p:nvSpPr>
        <p:spPr>
          <a:xfrm>
            <a:off x="0" y="-2880"/>
            <a:ext cx="9905040" cy="3492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34" name="그림 11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40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1" name="직사각형 2"/>
          <p:cNvSpPr/>
          <p:nvPr/>
        </p:nvSpPr>
        <p:spPr>
          <a:xfrm>
            <a:off x="0" y="-5760"/>
            <a:ext cx="9905040" cy="615384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42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520" y="1906920"/>
            <a:ext cx="73440" cy="430200"/>
          </a:xfrm>
          <a:prstGeom prst="rect">
            <a:avLst/>
          </a:prstGeom>
          <a:ln w="0">
            <a:noFill/>
          </a:ln>
        </p:spPr>
      </p:pic>
      <p:pic>
        <p:nvPicPr>
          <p:cNvPr id="43" name="그림 10" descr=""/>
          <p:cNvPicPr/>
          <p:nvPr/>
        </p:nvPicPr>
        <p:blipFill>
          <a:blip r:embed="rId7"/>
          <a:stretch/>
        </p:blipFill>
        <p:spPr>
          <a:xfrm>
            <a:off x="7544160" y="2454840"/>
            <a:ext cx="2360520" cy="3263400"/>
          </a:xfrm>
          <a:prstGeom prst="rect">
            <a:avLst/>
          </a:prstGeom>
          <a:ln w="0">
            <a:noFill/>
          </a:ln>
        </p:spPr>
      </p:pic>
      <p:pic>
        <p:nvPicPr>
          <p:cNvPr id="44" name="그림 9" descr=""/>
          <p:cNvPicPr/>
          <p:nvPr/>
        </p:nvPicPr>
        <p:blipFill>
          <a:blip r:embed="rId8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9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4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0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1" name="직사각형 2"/>
          <p:cNvSpPr/>
          <p:nvPr/>
        </p:nvSpPr>
        <p:spPr>
          <a:xfrm>
            <a:off x="0" y="-5760"/>
            <a:ext cx="9905040" cy="615384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52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520" y="1906920"/>
            <a:ext cx="73440" cy="430200"/>
          </a:xfrm>
          <a:prstGeom prst="rect">
            <a:avLst/>
          </a:prstGeom>
          <a:ln w="0">
            <a:noFill/>
          </a:ln>
        </p:spPr>
      </p:pic>
      <p:pic>
        <p:nvPicPr>
          <p:cNvPr id="53" name="그림 8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8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57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5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9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0" name="그림 2" descr=""/>
          <p:cNvPicPr/>
          <p:nvPr/>
        </p:nvPicPr>
        <p:blipFill>
          <a:blip r:embed="rId6"/>
          <a:srcRect l="0" t="0" r="0" b="19206"/>
          <a:stretch/>
        </p:blipFill>
        <p:spPr>
          <a:xfrm>
            <a:off x="0" y="3240"/>
            <a:ext cx="9905040" cy="5524560"/>
          </a:xfrm>
          <a:prstGeom prst="rect">
            <a:avLst/>
          </a:prstGeom>
          <a:ln w="0">
            <a:noFill/>
          </a:ln>
        </p:spPr>
      </p:pic>
      <p:grpSp>
        <p:nvGrpSpPr>
          <p:cNvPr id="61" name="그룹 8"/>
          <p:cNvGrpSpPr/>
          <p:nvPr/>
        </p:nvGrpSpPr>
        <p:grpSpPr>
          <a:xfrm>
            <a:off x="5705280" y="0"/>
            <a:ext cx="4199760" cy="6231240"/>
            <a:chOff x="5705280" y="0"/>
            <a:chExt cx="4199760" cy="6231240"/>
          </a:xfrm>
        </p:grpSpPr>
        <p:sp>
          <p:nvSpPr>
            <p:cNvPr id="62" name="직사각형 6"/>
            <p:cNvSpPr/>
            <p:nvPr/>
          </p:nvSpPr>
          <p:spPr>
            <a:xfrm rot="2515200">
              <a:off x="6609960" y="3163680"/>
              <a:ext cx="1055880" cy="3113280"/>
            </a:xfrm>
            <a:custGeom>
              <a:avLst/>
              <a:gdLst>
                <a:gd name="textAreaLeft" fmla="*/ 0 w 1055880"/>
                <a:gd name="textAreaRight" fmla="*/ 1056960 w 1055880"/>
                <a:gd name="textAreaTop" fmla="*/ 0 h 3113280"/>
                <a:gd name="textAreaBottom" fmla="*/ 3114360 h 311328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3" name="직사각형 7"/>
            <p:cNvSpPr/>
            <p:nvPr/>
          </p:nvSpPr>
          <p:spPr>
            <a:xfrm>
              <a:off x="7094520" y="0"/>
              <a:ext cx="2810520" cy="2544480"/>
            </a:xfrm>
            <a:custGeom>
              <a:avLst/>
              <a:gdLst>
                <a:gd name="textAreaLeft" fmla="*/ 0 w 2810520"/>
                <a:gd name="textAreaRight" fmla="*/ 2811600 w 2810520"/>
                <a:gd name="textAreaTop" fmla="*/ 0 h 2544480"/>
                <a:gd name="textAreaBottom" fmla="*/ 2545560 h 254448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4" name="자유형 11"/>
            <p:cNvSpPr/>
            <p:nvPr/>
          </p:nvSpPr>
          <p:spPr>
            <a:xfrm rot="16200000">
              <a:off x="6963840" y="1905480"/>
              <a:ext cx="4047120" cy="1834560"/>
            </a:xfrm>
            <a:custGeom>
              <a:avLst/>
              <a:gdLst>
                <a:gd name="textAreaLeft" fmla="*/ 0 w 4047120"/>
                <a:gd name="textAreaRight" fmla="*/ 4048200 w 4047120"/>
                <a:gd name="textAreaTop" fmla="*/ 0 h 1834560"/>
                <a:gd name="textAreaBottom" fmla="*/ 1835640 h 183456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65" name="그림 12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pic>
        <p:nvPicPr>
          <p:cNvPr id="66" name="그림 13" descr=""/>
          <p:cNvPicPr/>
          <p:nvPr/>
        </p:nvPicPr>
        <p:blipFill>
          <a:blip r:embed="rId8"/>
          <a:stretch/>
        </p:blipFill>
        <p:spPr>
          <a:xfrm flipH="1" rot="5400000">
            <a:off x="722520" y="1906920"/>
            <a:ext cx="73440" cy="43020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1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72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73" name="그림 5" descr=""/>
          <p:cNvPicPr/>
          <p:nvPr/>
        </p:nvPicPr>
        <p:blipFill>
          <a:blip r:embed="rId5"/>
          <a:stretch/>
        </p:blipFill>
        <p:spPr>
          <a:xfrm>
            <a:off x="7715160" y="0"/>
            <a:ext cx="2189520" cy="6856920"/>
          </a:xfrm>
          <a:prstGeom prst="rect">
            <a:avLst/>
          </a:prstGeom>
          <a:ln w="0">
            <a:noFill/>
          </a:ln>
        </p:spPr>
      </p:pic>
      <p:sp>
        <p:nvSpPr>
          <p:cNvPr id="74" name="제목 1"/>
          <p:cNvSpPr/>
          <p:nvPr/>
        </p:nvSpPr>
        <p:spPr>
          <a:xfrm>
            <a:off x="892800" y="1683360"/>
            <a:ext cx="33400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75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9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0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81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82" name="그림 1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520" cy="3263400"/>
          </a:xfrm>
          <a:prstGeom prst="rect">
            <a:avLst/>
          </a:prstGeom>
          <a:ln w="0">
            <a:noFill/>
          </a:ln>
        </p:spPr>
      </p:pic>
      <p:sp>
        <p:nvSpPr>
          <p:cNvPr id="83" name="제목 1"/>
          <p:cNvSpPr/>
          <p:nvPr/>
        </p:nvSpPr>
        <p:spPr>
          <a:xfrm>
            <a:off x="892800" y="1683360"/>
            <a:ext cx="33400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84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8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9" name="개체 1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90" name="직사각형 10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91" name="직선 연결선 12"/>
          <p:cNvCxnSpPr/>
          <p:nvPr/>
        </p:nvCxnSpPr>
        <p:spPr>
          <a:xfrm>
            <a:off x="270000" y="540000"/>
            <a:ext cx="9363960" cy="108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92" name="그림 13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ftr" idx="3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4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BAA852-39B2-414C-9F32-4CE3A45650FD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프로젝트 개요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01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프로젝트 배경 및 목적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marL="0" indent="0">
              <a:buNone/>
            </a:pPr>
            <a:r>
              <a:t>프로젝트 범위</a:t>
            </a: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추진 전략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02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추진 전략 및 방법론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marL="0" indent="0">
              <a:buNone/>
            </a:pPr>
            <a:r>
              <a:t>프로젝트 조직</a:t>
            </a: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실행 계획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03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일정 및 마일스톤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marL="0" indent="0">
              <a:buNone/>
            </a:pPr>
            <a:r>
              <a:t>WBS</a:t>
            </a: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기술 전략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04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기술 아키텍처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marL="0" indent="0">
              <a:buNone/>
            </a:pPr>
            <a:r>
              <a:t>인프라 구성</a:t>
            </a: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관리 계획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05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품질 및 위험 관리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marL="0" indent="0">
              <a:buNone/>
            </a:pPr>
            <a:r>
              <a:t>기대 효과</a:t>
            </a: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0" indent="0" defTabSz="914400">
              <a:buNone/>
              <a:lnSpc>
                <a:spcPct val="120000"/>
              </a:lnSpc>
              <a:buClr>
                <a:srgbClr val="002452"/>
              </a:buClr>
            </a:pPr>
            <a:r>
              <a:t>국내 Top 5 물류기업, 연간 500만건 처리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프로젝트 배경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현황 및 문제점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추진 목적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스마트 물류관리 시스템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WMS (창고관리)</a:t>
            </a:r>
          </a:p>
          <a:p>
            <a:pPr lvl="2" marL="1097280" indent="-182880" algn="l">
              <a:buChar char="•"/>
            </a:pPr>
            <a:r>
              <a:t>TMS (배송관리)</a:t>
            </a:r>
          </a:p>
          <a:p>
            <a:pPr lvl="2" marL="1097280" indent="-182880" algn="l">
              <a:buChar char="•"/>
            </a:pPr>
            <a:r>
              <a:t>OMS (주문관리)</a:t>
            </a:r>
          </a:p>
          <a:p>
            <a:pPr lvl="2" marL="1097280" indent="-182880" algn="l">
              <a:buChar char="•"/>
            </a:pPr>
            <a:r>
              <a:t>Dashboard (통합모니터링)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프로젝트 범위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단계적 전환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모듈별 순차 전환으로 리스크 최소화</a:t>
            </a:r>
          </a:p>
          <a:p>
            <a:pPr lvl="1" marL="731520" indent="-182880" algn="l">
              <a:buChar char="•"/>
            </a:pPr>
            <a:r>
              <a:t>애자일 기반 개발</a:t>
            </a:r>
          </a:p>
          <a:p>
            <a:pPr lvl="2" marL="1097280" indent="-182880" algn="l">
              <a:buChar char="•"/>
            </a:pPr>
            <a:r>
              <a:t>2주 단위 스프린트로 빠른 피드백</a:t>
            </a:r>
          </a:p>
          <a:p>
            <a:pPr lvl="1" marL="731520" indent="-182880" algn="l">
              <a:buChar char="•"/>
            </a:pPr>
            <a:r>
              <a:t>현업 밀착 협업</a:t>
            </a:r>
          </a:p>
          <a:p>
            <a:pPr lvl="2" marL="1097280" indent="-182880" algn="l">
              <a:buChar char="•"/>
            </a:pPr>
            <a:r>
              <a:t>주 2회 현업 리뷰로 요구사항 정합성 확보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추진 전략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분석 (8주)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요구사항정의서, AS-IS 분석서</a:t>
            </a:r>
          </a:p>
          <a:p>
            <a:pPr lvl="1" marL="731520" indent="-182880" algn="l">
              <a:buChar char="•"/>
            </a:pPr>
            <a:r>
              <a:t>설계 (8주)</a:t>
            </a:r>
          </a:p>
          <a:p>
            <a:pPr lvl="2" marL="1097280" indent="-182880" algn="l">
              <a:buChar char="•"/>
            </a:pPr>
            <a:r>
              <a:t>아키텍처, DB, 화면 설계서</a:t>
            </a:r>
          </a:p>
          <a:p>
            <a:pPr lvl="1" marL="731520" indent="-182880" algn="l">
              <a:buChar char="•"/>
            </a:pPr>
            <a:r>
              <a:t>개발 (16주)</a:t>
            </a:r>
          </a:p>
          <a:p>
            <a:pPr lvl="2" marL="1097280" indent="-182880" algn="l">
              <a:buChar char="•"/>
            </a:pPr>
            <a:r>
              <a:t>소스코드, 단위테스트결과서</a:t>
            </a:r>
          </a:p>
          <a:p>
            <a:pPr lvl="1" marL="731520" indent="-182880" algn="l">
              <a:buChar char="•"/>
            </a:pPr>
            <a:r>
              <a:t>테스트/이행 (12주)</a:t>
            </a:r>
          </a:p>
          <a:p>
            <a:pPr lvl="2" marL="1097280" indent="-182880" algn="l">
              <a:buChar char="•"/>
            </a:pPr>
            <a:r>
              <a:t>테스트결과서, 이행계획서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수행 방법론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발주기관 PM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정민호 부장 - 프로젝트 총괄, 의사결정</a:t>
            </a:r>
          </a:p>
          <a:p>
            <a:pPr lvl="1" marL="731520" indent="-182880" algn="l">
              <a:buChar char="•"/>
            </a:pPr>
            <a:r>
              <a:t>수행사 PM</a:t>
            </a:r>
          </a:p>
          <a:p>
            <a:pPr lvl="2" marL="1097280" indent="-182880" algn="l">
              <a:buChar char="•"/>
            </a:pPr>
            <a:r>
              <a:t>김철수 차장 - 프로젝트 수행 총괄, 품질/위험 관리</a:t>
            </a:r>
          </a:p>
          <a:p>
            <a:pPr lvl="1" marL="731520" indent="-182880" algn="l">
              <a:buChar char="•"/>
            </a:pPr>
            <a:r>
              <a:t>실행팀</a:t>
            </a:r>
          </a:p>
          <a:p>
            <a:pPr lvl="2" marL="1097280" indent="-182880" algn="l">
              <a:buChar char="•"/>
            </a:pPr>
            <a:r>
              <a:t>박준형 책임(AA), 최수진 선임(개발 리더), 한미영 대리(QA), 오현우 대리(DBA)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프로젝트 조직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착수 (4주): 2025.01.06 ~ 2025.01.31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1" marL="731520" indent="-182880" algn="l">
              <a:buChar char="•"/>
            </a:pPr>
            <a:r>
              <a:t>분석 (8주): 2025.02.01 ~ 2025.03.31</a:t>
            </a:r>
          </a:p>
          <a:p>
            <a:pPr lvl="1" marL="731520" indent="-182880" algn="l">
              <a:buChar char="•"/>
            </a:pPr>
            <a:r>
              <a:t>설계 (8주): 2025.04.01 ~ 2025.05.31</a:t>
            </a:r>
          </a:p>
          <a:p>
            <a:pPr lvl="1" marL="731520" indent="-182880" algn="l">
              <a:buChar char="•"/>
            </a:pPr>
            <a:r>
              <a:t>개발 (16주): 2025.06.01 ~ 2025.09.30</a:t>
            </a:r>
          </a:p>
          <a:p>
            <a:pPr lvl="1" marL="731520" indent="-182880" algn="l">
              <a:buChar char="•"/>
            </a:pPr>
            <a:r>
              <a:t>테스트 (6주): 2025.10.01 ~ 2025.11.15</a:t>
            </a:r>
          </a:p>
          <a:p>
            <a:pPr lvl="1" marL="731520" indent="-182880" algn="l">
              <a:buChar char="•"/>
            </a:pPr>
            <a:r>
              <a:t>이행/안정화 (6주): 2025.11.16 ~ 2025.12.31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프로젝트 일정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M1: 착수보고 (2025.01.10)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1" marL="731520" indent="-182880" algn="l">
              <a:buChar char="•"/>
            </a:pPr>
            <a:r>
              <a:t>M2: 요구사항 확정 (2025.03.31)</a:t>
            </a:r>
          </a:p>
          <a:p>
            <a:pPr lvl="1" marL="731520" indent="-182880" algn="l">
              <a:buChar char="•"/>
            </a:pPr>
            <a:r>
              <a:t>M3: 설계 완료 (2025.05.31)</a:t>
            </a:r>
          </a:p>
          <a:p>
            <a:pPr lvl="1" marL="731520" indent="-182880" algn="l">
              <a:buChar char="•"/>
            </a:pPr>
            <a:r>
              <a:t>M4: 개발 완료 (2025.09.30)</a:t>
            </a:r>
          </a:p>
          <a:p>
            <a:pPr lvl="1" marL="731520" indent="-182880" algn="l">
              <a:buChar char="•"/>
            </a:pPr>
            <a:r>
              <a:t>M5: 통합테스트 완료 (2025.11.15)</a:t>
            </a:r>
          </a:p>
          <a:p>
            <a:pPr lvl="1" marL="731520" indent="-182880" algn="l">
              <a:buChar char="•"/>
            </a:pPr>
            <a:r>
              <a:t>M6: 시스템 오픈 (2025.12.01)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주요 마일스톤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프로젝트 관리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착수 관리, 진행 관리, 종료 관리</a:t>
            </a:r>
          </a:p>
          <a:p>
            <a:pPr lvl="1" marL="731520" indent="-182880" algn="l">
              <a:buChar char="•"/>
            </a:pPr>
            <a:r>
              <a:t>분석</a:t>
            </a:r>
          </a:p>
          <a:p>
            <a:pPr lvl="2" marL="1097280" indent="-182880" algn="l">
              <a:buChar char="•"/>
            </a:pPr>
            <a:r>
              <a:t>현행 분석, 요구사항 분석, TO-BE 설계</a:t>
            </a:r>
          </a:p>
          <a:p>
            <a:pPr lvl="1" marL="731520" indent="-182880" algn="l">
              <a:buChar char="•"/>
            </a:pPr>
            <a:r>
              <a:t>설계</a:t>
            </a:r>
          </a:p>
          <a:p>
            <a:pPr lvl="2" marL="1097280" indent="-182880" algn="l">
              <a:buChar char="•"/>
            </a:pPr>
            <a:r>
              <a:t>아키텍처, 애플리케이션, 인터페이스, 데이터베이스 설계</a:t>
            </a:r>
          </a:p>
          <a:p>
            <a:pPr lvl="1" marL="731520" indent="-182880" algn="l">
              <a:buChar char="•"/>
            </a:pPr>
            <a:r>
              <a:t>개발</a:t>
            </a:r>
          </a:p>
          <a:p>
            <a:pPr lvl="2" marL="1097280" indent="-182880" algn="l">
              <a:buChar char="•"/>
            </a:pPr>
            <a:r>
              <a:t>공통 모듈, WMS/TMS/OMS/Dashboard, 인터페이스 개발</a:t>
            </a:r>
          </a:p>
          <a:p>
            <a:pPr lvl="1" marL="731520" indent="-182880" algn="l">
              <a:buChar char="•"/>
            </a:pPr>
            <a:r>
              <a:t>테스트</a:t>
            </a:r>
          </a:p>
          <a:p>
            <a:pPr lvl="2" marL="1097280" indent="-182880" algn="l">
              <a:buChar char="•"/>
            </a:pPr>
            <a:r>
              <a:t>단위/통합/성능/보안 테스트, UAT</a:t>
            </a:r>
          </a:p>
          <a:p>
            <a:pPr lvl="1" marL="731520" indent="-182880" algn="l">
              <a:buChar char="•"/>
            </a:pPr>
            <a:r>
              <a:t>이행</a:t>
            </a:r>
          </a:p>
          <a:p>
            <a:pPr lvl="2" marL="1097280" indent="-182880" algn="l">
              <a:buChar char="•"/>
            </a:pPr>
            <a:r>
              <a:t>이행 준비, 시스템 전환, 안정화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WBS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Frontend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Vue.js 3 (TypeScript) - SPA 구조</a:t>
            </a:r>
          </a:p>
          <a:p>
            <a:pPr lvl="1" marL="731520" indent="-182880" algn="l">
              <a:buChar char="•"/>
            </a:pPr>
            <a:r>
              <a:t>Backend</a:t>
            </a:r>
          </a:p>
          <a:p>
            <a:pPr lvl="2" marL="1097280" indent="-182880" algn="l">
              <a:buChar char="•"/>
            </a:pPr>
            <a:r>
              <a:t>Spring Boot 3.2, Java 17 - MSA 구조</a:t>
            </a:r>
          </a:p>
          <a:p>
            <a:pPr lvl="1" marL="731520" indent="-182880" algn="l">
              <a:buChar char="•"/>
            </a:pPr>
            <a:r>
              <a:t>Database</a:t>
            </a:r>
          </a:p>
          <a:p>
            <a:pPr lvl="2" marL="1097280" indent="-182880" algn="l">
              <a:buChar char="•"/>
            </a:pPr>
            <a:r>
              <a:t>PostgreSQL 16, Redis 7 - RDBMS + Cache</a:t>
            </a:r>
          </a:p>
          <a:p>
            <a:pPr lvl="1" marL="731520" indent="-182880" algn="l">
              <a:buChar char="•"/>
            </a:pPr>
            <a:r>
              <a:t>Infra</a:t>
            </a:r>
          </a:p>
          <a:p>
            <a:pPr lvl="2" marL="1097280" indent="-182880" algn="l">
              <a:buChar char="•"/>
            </a:pPr>
            <a:r>
              <a:t>AWS (EKS, RDS, S3) - 클라우드 네이티브</a:t>
            </a:r>
          </a:p>
          <a:p>
            <a:pPr lvl="1" marL="731520" indent="-182880" algn="l">
              <a:buChar char="•"/>
            </a:pPr>
            <a:r>
              <a:t>AI/ML</a:t>
            </a:r>
          </a:p>
          <a:p>
            <a:pPr lvl="2" marL="1097280" indent="-182880" algn="l">
              <a:buChar char="•"/>
            </a:pPr>
            <a:r>
              <a:t>Python 3.11, TensorFlow 2.15 - 수요예측, 경로최적화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기술 스택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API Gateway (ALB)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WMS Pods, TMS Pods, OMS Pods, Dashboard Pods</a:t>
            </a:r>
          </a:p>
          <a:p>
            <a:pPr lvl="1" marL="731520" indent="-182880" algn="l">
              <a:buChar char="•"/>
            </a:pPr>
            <a:r>
              <a:t>인프라</a:t>
            </a:r>
          </a:p>
          <a:p>
            <a:pPr lvl="2" marL="1097280" indent="-182880" algn="l">
              <a:buChar char="•"/>
            </a:pPr>
            <a:r>
              <a:t>EKS Cluster, RDS PostgreSQL, ElastiCache Redis, S3 (파일저장)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시스템 아키텍처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VPC (10.0.0.0/16)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Public Subnet: ALB, NAT Gateway</a:t>
            </a:r>
          </a:p>
          <a:p>
            <a:pPr lvl="2" marL="1097280" indent="-182880" algn="l">
              <a:buChar char="•"/>
            </a:pPr>
            <a:r>
              <a:t>Private Subnet: EKS Worker Nodes (m6i.xlarge × 6)</a:t>
            </a:r>
          </a:p>
          <a:p>
            <a:pPr lvl="2" marL="1097280" indent="-182880" algn="l">
              <a:buChar char="•"/>
            </a:pPr>
            <a:r>
              <a:t>Data Subnet: RDS PostgreSQL (db.r6g.xlarge × 2), ElastiCache Redis (cache.r6g.large × 2), S3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인프라 구성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WMS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입고 예정/검수, 로케이션 관리, 재고 조회/실사, 피킹/패킹/출고</a:t>
            </a:r>
          </a:p>
          <a:p>
            <a:pPr lvl="1" marL="731520" indent="-182880" algn="l">
              <a:buChar char="•"/>
            </a:pPr>
            <a:r>
              <a:t>TMS</a:t>
            </a:r>
          </a:p>
          <a:p>
            <a:pPr lvl="2" marL="1097280" indent="-182880" algn="l">
              <a:buChar char="•"/>
            </a:pPr>
            <a:r>
              <a:t>배차 계획, 경로 최적화, 실시간 추적, 운임 정산</a:t>
            </a:r>
          </a:p>
          <a:p>
            <a:pPr lvl="1" marL="731520" indent="-182880" algn="l">
              <a:buChar char="•"/>
            </a:pPr>
            <a:r>
              <a:t>OMS</a:t>
            </a:r>
          </a:p>
          <a:p>
            <a:pPr lvl="2" marL="1097280" indent="-182880" algn="l">
              <a:buChar char="•"/>
            </a:pPr>
            <a:r>
              <a:t>주문 수집/검증, 창고 할당, 상태 관리, 정산 관리</a:t>
            </a:r>
          </a:p>
          <a:p>
            <a:pPr lvl="1" marL="731520" indent="-182880" algn="l">
              <a:buChar char="•"/>
            </a:pPr>
            <a:r>
              <a:t>Dashboard</a:t>
            </a:r>
          </a:p>
          <a:p>
            <a:pPr lvl="2" marL="1097280" indent="-182880" algn="l">
              <a:buChar char="•"/>
            </a:pPr>
            <a:r>
              <a:t>실시간 현황판, KPI 모니터링, 알림/경보, 리포트 생성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기능 요구사항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품질 보증 활동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산출물 검토 (단계별 말), 코드 리뷰 (GitHub PR 필수), 정적 분석 (SonarQube), 시나리오 기반 테스트</a:t>
            </a:r>
          </a:p>
          <a:p>
            <a:pPr lvl="1" marL="731520" indent="-182880" algn="l">
              <a:buChar char="•"/>
            </a:pPr>
            <a:r>
              <a:t>보안 관리 계획</a:t>
            </a:r>
          </a:p>
          <a:p>
            <a:pPr lvl="2" marL="1097280" indent="-182880" algn="l">
              <a:buChar char="•"/>
            </a:pPr>
            <a:r>
              <a:t>인적 보안 (보안서약, 교육), 물리 보안 (출입 관리), 기술 보안 (보안진단, 암호화), PC 보안 (백신, DLP)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품질 및 보안 관리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731520" indent="-182880" defTabSz="914400" algn="l">
              <a:lnSpc>
                <a:spcPct val="120000"/>
              </a:lnSpc>
              <a:buClr>
                <a:srgbClr val="002452"/>
              </a:buClr>
              <a:buChar char="•"/>
            </a:pPr>
            <a:r>
              <a:t>요구사항 변경 (상/상)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097280" indent="-182880" algn="l">
              <a:buChar char="•"/>
            </a:pPr>
            <a:r>
              <a:t>CCB 통제, 영향도 분석 (담당: PM)</a:t>
            </a:r>
          </a:p>
          <a:p>
            <a:pPr lvl="1" marL="731520" indent="-182880" algn="l">
              <a:buChar char="•"/>
            </a:pPr>
            <a:r>
              <a:t>일정 지연 (상/중)</a:t>
            </a:r>
          </a:p>
          <a:p>
            <a:pPr lvl="2" marL="1097280" indent="-182880" algn="l">
              <a:buChar char="•"/>
            </a:pPr>
            <a:r>
              <a:t>주간 진척관리, CP 모니터링 (담당: PM)</a:t>
            </a:r>
          </a:p>
          <a:p>
            <a:pPr lvl="1" marL="731520" indent="-182880" algn="l">
              <a:buChar char="•"/>
            </a:pPr>
            <a:r>
              <a:t>기술적 난제 (중/중)</a:t>
            </a:r>
          </a:p>
          <a:p>
            <a:pPr lvl="2" marL="1097280" indent="-182880" algn="l">
              <a:buChar char="•"/>
            </a:pPr>
            <a:r>
              <a:t>PoC 선행, 자문 (담당: AA)</a:t>
            </a:r>
          </a:p>
          <a:p>
            <a:pPr lvl="1" marL="731520" indent="-182880" algn="l">
              <a:buChar char="•"/>
            </a:pPr>
            <a:r>
              <a:t>인력 이탈 (상/하)</a:t>
            </a:r>
          </a:p>
          <a:p>
            <a:pPr lvl="2" marL="1097280" indent="-182880" algn="l">
              <a:buChar char="•"/>
            </a:pPr>
            <a:r>
              <a:t>대체 인력 풀, 문서화 (담당: PM)</a:t>
            </a:r>
          </a:p>
          <a:p>
            <a:pPr lvl="1" marL="731520" indent="-182880" algn="l">
              <a:buChar char="•"/>
            </a:pPr>
            <a:r>
              <a:t>데이터 마이그레이션 (상/중)</a:t>
            </a:r>
          </a:p>
          <a:p>
            <a:pPr lvl="2" marL="1097280" indent="-182880" algn="l">
              <a:buChar char="•"/>
            </a:pPr>
            <a:r>
              <a:t>사전 검증, 롤백 계획 (담당: DBA)</a:t>
            </a: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 marL="0" indent="0">
              <a:buNone/>
              <a:lnSpc>
                <a:spcPct val="100000"/>
              </a:lnSpc>
              <a:tabLst>
                <a:tab algn="l" pos="0"/>
              </a:tabLst>
            </a:pPr>
            <a:r>
              <a:t>위험 관리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7838</TotalTime>
  <Application>LibreOffice/24.2.7.2$Linux_X86_64 LibreOffice_project/420$Build-2</Application>
  <AppVersion>15.0000</AppVersion>
  <Words>70</Words>
  <Paragraphs>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2019-03-13T02:13:57Z</dcterms:created>
  <dc:creator>heeseung.jang</dc:creator>
  <dc:description/>
  <dc:language>ko-KR</dc:language>
  <cp:lastModifiedBy/>
  <cp:lastPrinted>2025-07-23T03:28:55Z</cp:lastPrinted>
  <dcterms:modified xsi:type="dcterms:W3CDTF">2026-01-09T11:03:13Z</dcterms:modified>
  <cp:revision>301</cp:revision>
  <dc:subject/>
  <dc:title>동국제강그룹  문서 템플릿 통합 계획안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용지(210x297mm)</vt:lpwstr>
  </property>
  <property fmtid="{D5CDD505-2E9C-101B-9397-08002B2CF9AE}" pid="3" name="Slides">
    <vt:i4>10</vt:i4>
  </property>
</Properties>
</file>